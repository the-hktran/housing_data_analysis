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258" r:id="rId4"/>
    <p:sldId id="259" r:id="rId5"/>
    <p:sldId id="260" r:id="rId6"/>
    <p:sldId id="262" r:id="rId7"/>
    <p:sldId id="263" r:id="rId8"/>
    <p:sldId id="264" r:id="rId9"/>
    <p:sldId id="265" r:id="rId10"/>
    <p:sldId id="274" r:id="rId11"/>
    <p:sldId id="266" r:id="rId12"/>
    <p:sldId id="267" r:id="rId13"/>
    <p:sldId id="270" r:id="rId14"/>
    <p:sldId id="269" r:id="rId15"/>
    <p:sldId id="282" r:id="rId16"/>
    <p:sldId id="261" r:id="rId17"/>
    <p:sldId id="268" r:id="rId18"/>
    <p:sldId id="271" r:id="rId19"/>
    <p:sldId id="275" r:id="rId20"/>
    <p:sldId id="273" r:id="rId21"/>
    <p:sldId id="272" r:id="rId22"/>
    <p:sldId id="283" r:id="rId23"/>
    <p:sldId id="277" r:id="rId24"/>
    <p:sldId id="278" r:id="rId25"/>
    <p:sldId id="279" r:id="rId26"/>
    <p:sldId id="280" r:id="rId27"/>
    <p:sldId id="281" r:id="rId28"/>
    <p:sldId id="27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9" autoAdjust="0"/>
    <p:restoredTop sz="94660"/>
  </p:normalViewPr>
  <p:slideViewPr>
    <p:cSldViewPr snapToGrid="0">
      <p:cViewPr varScale="1">
        <p:scale>
          <a:sx n="138" d="100"/>
          <a:sy n="138"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2F085-F04B-49C9-AD35-1BB922C036DA}" type="datetimeFigureOut">
              <a:rPr lang="en-US" smtClean="0"/>
              <a:t>4/4/26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719E3-2DEE-411F-B084-A01E65CE975A}" type="slidenum">
              <a:rPr lang="en-US" smtClean="0"/>
              <a:t>‹#›</a:t>
            </a:fld>
            <a:endParaRPr lang="en-US"/>
          </a:p>
        </p:txBody>
      </p:sp>
    </p:spTree>
    <p:extLst>
      <p:ext uri="{BB962C8B-B14F-4D97-AF65-F5344CB8AC3E}">
        <p14:creationId xmlns:p14="http://schemas.microsoft.com/office/powerpoint/2010/main" val="6925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17ACC4-E0A7-452C-BE11-4677DD8225A5}"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C1F92A-C6D8-4423-A6E5-606ADED483C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293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9F653-8492-4A0D-8134-1DF75A13F9EC}"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1138173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45384A-5D62-42CE-B60A-D5CAE0C86C47}"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C1F92A-C6D8-4423-A6E5-606ADED483C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569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B434D4-F15F-4B7B-9630-77CD2E576333}" type="datetime1">
              <a:rPr lang="en-US" smtClean="0"/>
              <a:t>4/4/26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4040389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4AC5E7-9140-4D4F-853F-85BADB2C5A40}" type="datetime1">
              <a:rPr lang="en-US" smtClean="0"/>
              <a:t>4/4/26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3042784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C6221C-1FA7-4179-A5D8-E4B284F4271F}" type="datetime1">
              <a:rPr lang="en-US" smtClean="0"/>
              <a:t>4/4/26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1655871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F3DD39A-EDDE-4373-9439-3A07AF66886A}" type="datetime1">
              <a:rPr lang="en-US" smtClean="0"/>
              <a:t>4/4/26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3898091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F4D6E8A-521F-47B9-A585-A6EBFE726186}" type="datetime1">
              <a:rPr lang="en-US" smtClean="0"/>
              <a:t>4/4/26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CC1F92A-C6D8-4423-A6E5-606ADED483CD}" type="slidenum">
              <a:rPr lang="en-US" smtClean="0"/>
              <a:t>‹#›</a:t>
            </a:fld>
            <a:endParaRPr lang="en-US"/>
          </a:p>
        </p:txBody>
      </p:sp>
    </p:spTree>
    <p:extLst>
      <p:ext uri="{BB962C8B-B14F-4D97-AF65-F5344CB8AC3E}">
        <p14:creationId xmlns:p14="http://schemas.microsoft.com/office/powerpoint/2010/main" val="2249565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E16C83D-6B5A-470F-B02F-5873A347508A}" type="datetime1">
              <a:rPr lang="en-US" smtClean="0"/>
              <a:t>4/4/26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4247360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49C04F-C469-41A2-B0D5-0A4845D0764A}"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3348152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D4508-BDDC-4F26-8803-3D780F41658D}"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C1F92A-C6D8-4423-A6E5-606ADED483CD}" type="slidenum">
              <a:rPr lang="en-US" smtClean="0"/>
              <a:t>‹#›</a:t>
            </a:fld>
            <a:endParaRPr lang="en-US"/>
          </a:p>
        </p:txBody>
      </p:sp>
    </p:spTree>
    <p:extLst>
      <p:ext uri="{BB962C8B-B14F-4D97-AF65-F5344CB8AC3E}">
        <p14:creationId xmlns:p14="http://schemas.microsoft.com/office/powerpoint/2010/main" val="4237240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1781DA2-4B33-465B-ACAA-6BEEA2259862}" type="datetime1">
              <a:rPr lang="en-US" smtClean="0"/>
              <a:t>4/4/26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CC1F92A-C6D8-4423-A6E5-606ADED483C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4374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Classification Model for Housing Renewal Decisions</a:t>
            </a:r>
          </a:p>
        </p:txBody>
      </p:sp>
      <p:sp>
        <p:nvSpPr>
          <p:cNvPr id="3" name="Subtitle 2"/>
          <p:cNvSpPr>
            <a:spLocks noGrp="1"/>
          </p:cNvSpPr>
          <p:nvPr>
            <p:ph type="subTitle" idx="1"/>
          </p:nvPr>
        </p:nvSpPr>
        <p:spPr/>
        <p:txBody>
          <a:bodyPr>
            <a:normAutofit/>
          </a:bodyPr>
          <a:lstStyle/>
          <a:p>
            <a:r>
              <a:rPr lang="en-US" dirty="0"/>
              <a:t>Henry k. Tran</a:t>
            </a:r>
          </a:p>
          <a:p>
            <a:r>
              <a:rPr lang="en-US" dirty="0" err="1"/>
              <a:t>EliseAI</a:t>
            </a:r>
            <a:r>
              <a:rPr lang="en-US" dirty="0"/>
              <a:t> Case Study</a:t>
            </a:r>
          </a:p>
        </p:txBody>
      </p:sp>
      <p:sp>
        <p:nvSpPr>
          <p:cNvPr id="4" name="Slide Number Placeholder 3"/>
          <p:cNvSpPr>
            <a:spLocks noGrp="1"/>
          </p:cNvSpPr>
          <p:nvPr>
            <p:ph type="sldNum" sz="quarter" idx="12"/>
          </p:nvPr>
        </p:nvSpPr>
        <p:spPr/>
        <p:txBody>
          <a:bodyPr/>
          <a:lstStyle/>
          <a:p>
            <a:fld id="{DCC1F92A-C6D8-4423-A6E5-606ADED483CD}" type="slidenum">
              <a:rPr lang="en-US" smtClean="0"/>
              <a:t>1</a:t>
            </a:fld>
            <a:endParaRPr lang="en-US"/>
          </a:p>
        </p:txBody>
      </p:sp>
    </p:spTree>
    <p:extLst>
      <p:ext uri="{BB962C8B-B14F-4D97-AF65-F5344CB8AC3E}">
        <p14:creationId xmlns:p14="http://schemas.microsoft.com/office/powerpoint/2010/main" val="1672444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7143-89CF-FC6F-AB06-85F462A0E77E}"/>
              </a:ext>
            </a:extLst>
          </p:cNvPr>
          <p:cNvSpPr>
            <a:spLocks noGrp="1"/>
          </p:cNvSpPr>
          <p:nvPr>
            <p:ph type="title"/>
          </p:nvPr>
        </p:nvSpPr>
        <p:spPr/>
        <p:txBody>
          <a:bodyPr/>
          <a:lstStyle/>
          <a:p>
            <a:r>
              <a:rPr lang="en-US" dirty="0"/>
              <a:t>Goals for Project</a:t>
            </a:r>
          </a:p>
        </p:txBody>
      </p:sp>
      <p:sp>
        <p:nvSpPr>
          <p:cNvPr id="4" name="Slide Number Placeholder 3">
            <a:extLst>
              <a:ext uri="{FF2B5EF4-FFF2-40B4-BE49-F238E27FC236}">
                <a16:creationId xmlns:a16="http://schemas.microsoft.com/office/drawing/2014/main" id="{29E8C1CC-6771-6F02-642F-1BF0C5EA1104}"/>
              </a:ext>
            </a:extLst>
          </p:cNvPr>
          <p:cNvSpPr>
            <a:spLocks noGrp="1"/>
          </p:cNvSpPr>
          <p:nvPr>
            <p:ph type="sldNum" sz="quarter" idx="12"/>
          </p:nvPr>
        </p:nvSpPr>
        <p:spPr/>
        <p:txBody>
          <a:bodyPr/>
          <a:lstStyle/>
          <a:p>
            <a:fld id="{DCC1F92A-C6D8-4423-A6E5-606ADED483CD}" type="slidenum">
              <a:rPr lang="en-US" smtClean="0"/>
              <a:t>2</a:t>
            </a:fld>
            <a:endParaRPr lang="en-US"/>
          </a:p>
        </p:txBody>
      </p:sp>
      <p:sp>
        <p:nvSpPr>
          <p:cNvPr id="8" name="TextBox 7">
            <a:extLst>
              <a:ext uri="{FF2B5EF4-FFF2-40B4-BE49-F238E27FC236}">
                <a16:creationId xmlns:a16="http://schemas.microsoft.com/office/drawing/2014/main" id="{1AB8D319-1ABA-0B13-71A1-BD38C525ECDF}"/>
              </a:ext>
            </a:extLst>
          </p:cNvPr>
          <p:cNvSpPr txBox="1"/>
          <p:nvPr/>
        </p:nvSpPr>
        <p:spPr>
          <a:xfrm>
            <a:off x="1314738" y="2095019"/>
            <a:ext cx="9562523" cy="3539430"/>
          </a:xfrm>
          <a:prstGeom prst="rect">
            <a:avLst/>
          </a:prstGeom>
          <a:noFill/>
        </p:spPr>
        <p:txBody>
          <a:bodyPr wrap="square" rtlCol="0">
            <a:spAutoFit/>
          </a:bodyPr>
          <a:lstStyle/>
          <a:p>
            <a:pPr marL="342900" indent="-342900">
              <a:buFont typeface="+mj-lt"/>
              <a:buAutoNum type="arabicPeriod"/>
            </a:pPr>
            <a:r>
              <a:rPr lang="en-US" sz="2800" dirty="0">
                <a:solidFill>
                  <a:schemeClr val="accent1"/>
                </a:solidFill>
              </a:rPr>
              <a:t>Preprocess the data </a:t>
            </a:r>
            <a:r>
              <a:rPr lang="en-US" sz="2800" dirty="0"/>
              <a:t>and </a:t>
            </a:r>
            <a:r>
              <a:rPr lang="en-US" sz="2800" dirty="0">
                <a:solidFill>
                  <a:schemeClr val="accent1"/>
                </a:solidFill>
              </a:rPr>
              <a:t>form/select necessary features </a:t>
            </a:r>
            <a:r>
              <a:rPr lang="en-US" sz="2800" dirty="0"/>
              <a:t>to predict housing renewals.</a:t>
            </a:r>
          </a:p>
          <a:p>
            <a:pPr marL="342900" indent="-342900">
              <a:buFont typeface="+mj-lt"/>
              <a:buAutoNum type="arabicPeriod"/>
            </a:pPr>
            <a:r>
              <a:rPr lang="en-US" sz="2800" dirty="0"/>
              <a:t>Propose and </a:t>
            </a:r>
            <a:r>
              <a:rPr lang="en-US" sz="2800" dirty="0">
                <a:solidFill>
                  <a:schemeClr val="accent1"/>
                </a:solidFill>
              </a:rPr>
              <a:t>evaluate a model </a:t>
            </a:r>
            <a:r>
              <a:rPr lang="en-US" sz="2800" dirty="0"/>
              <a:t>that can predict housing renewals. Test the model against </a:t>
            </a:r>
            <a:r>
              <a:rPr lang="en-US" sz="2800" dirty="0">
                <a:solidFill>
                  <a:schemeClr val="accent1"/>
                </a:solidFill>
              </a:rPr>
              <a:t>baseline benchmarks </a:t>
            </a:r>
            <a:r>
              <a:rPr lang="en-US" sz="2800" dirty="0"/>
              <a:t>and apply the model on the test dataset.</a:t>
            </a:r>
          </a:p>
          <a:p>
            <a:pPr marL="342900" indent="-342900">
              <a:buFont typeface="+mj-lt"/>
              <a:buAutoNum type="arabicPeriod"/>
            </a:pPr>
            <a:r>
              <a:rPr lang="en-US" sz="2800" dirty="0"/>
              <a:t>Parse through the messages from each user and </a:t>
            </a:r>
            <a:r>
              <a:rPr lang="en-US" sz="2800" dirty="0">
                <a:solidFill>
                  <a:schemeClr val="accent1"/>
                </a:solidFill>
              </a:rPr>
              <a:t>categorize the reason </a:t>
            </a:r>
            <a:r>
              <a:rPr lang="en-US" sz="2800" dirty="0"/>
              <a:t>for not renewing their leases using sentence transformers.</a:t>
            </a:r>
          </a:p>
        </p:txBody>
      </p:sp>
    </p:spTree>
    <p:extLst>
      <p:ext uri="{BB962C8B-B14F-4D97-AF65-F5344CB8AC3E}">
        <p14:creationId xmlns:p14="http://schemas.microsoft.com/office/powerpoint/2010/main" val="90041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104AB-ED85-4A46-E976-754B24333FF1}"/>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8C713B48-99C6-DB60-17EC-438E6DF4DACE}"/>
              </a:ext>
            </a:extLst>
          </p:cNvPr>
          <p:cNvSpPr>
            <a:spLocks noGrp="1"/>
          </p:cNvSpPr>
          <p:nvPr>
            <p:ph type="sldNum" sz="quarter" idx="12"/>
          </p:nvPr>
        </p:nvSpPr>
        <p:spPr/>
        <p:txBody>
          <a:bodyPr/>
          <a:lstStyle/>
          <a:p>
            <a:fld id="{DCC1F92A-C6D8-4423-A6E5-606ADED483CD}" type="slidenum">
              <a:rPr lang="en-US" smtClean="0"/>
              <a:t>3</a:t>
            </a:fld>
            <a:endParaRPr lang="en-US"/>
          </a:p>
        </p:txBody>
      </p:sp>
      <p:sp>
        <p:nvSpPr>
          <p:cNvPr id="5" name="TextBox 4">
            <a:extLst>
              <a:ext uri="{FF2B5EF4-FFF2-40B4-BE49-F238E27FC236}">
                <a16:creationId xmlns:a16="http://schemas.microsoft.com/office/drawing/2014/main" id="{7550891D-41BE-C976-79B2-A2C8BEB68E7C}"/>
              </a:ext>
            </a:extLst>
          </p:cNvPr>
          <p:cNvSpPr txBox="1"/>
          <p:nvPr/>
        </p:nvSpPr>
        <p:spPr>
          <a:xfrm>
            <a:off x="1314738" y="2095019"/>
            <a:ext cx="9562523" cy="3231654"/>
          </a:xfrm>
          <a:prstGeom prst="rect">
            <a:avLst/>
          </a:prstGeom>
          <a:noFill/>
        </p:spPr>
        <p:txBody>
          <a:bodyPr wrap="square" rtlCol="0">
            <a:spAutoFit/>
          </a:bodyPr>
          <a:lstStyle/>
          <a:p>
            <a:pPr marL="342900" indent="-342900">
              <a:buFont typeface="+mj-lt"/>
              <a:buAutoNum type="arabicPeriod"/>
            </a:pPr>
            <a:r>
              <a:rPr lang="en-US" sz="2800" dirty="0">
                <a:solidFill>
                  <a:schemeClr val="accent1"/>
                </a:solidFill>
              </a:rPr>
              <a:t>Preprocess the data </a:t>
            </a:r>
            <a:r>
              <a:rPr lang="en-US" sz="2800" dirty="0"/>
              <a:t>and </a:t>
            </a:r>
            <a:r>
              <a:rPr lang="en-US" sz="2800" dirty="0">
                <a:solidFill>
                  <a:schemeClr val="accent1"/>
                </a:solidFill>
              </a:rPr>
              <a:t>form/select necessary features </a:t>
            </a:r>
            <a:r>
              <a:rPr lang="en-US" sz="2800" dirty="0"/>
              <a:t>to predict housing renewals.</a:t>
            </a:r>
          </a:p>
          <a:p>
            <a:pPr marL="342900" indent="-342900">
              <a:buFont typeface="+mj-lt"/>
              <a:buAutoNum type="arabicPeriod"/>
            </a:pPr>
            <a:endParaRPr lang="en-US" sz="2800" dirty="0"/>
          </a:p>
          <a:p>
            <a:pPr marL="800100" lvl="1" indent="-342900">
              <a:buFont typeface="+mj-lt"/>
              <a:buAutoNum type="arabicPeriod"/>
            </a:pPr>
            <a:r>
              <a:rPr lang="en-US" sz="2000" dirty="0"/>
              <a:t>Determine which columns of non-numerical data could be encoded into a numerical feature, if it is worth doing so.</a:t>
            </a:r>
          </a:p>
          <a:p>
            <a:pPr marL="800100" lvl="1" indent="-342900">
              <a:buFont typeface="+mj-lt"/>
              <a:buAutoNum type="arabicPeriod"/>
            </a:pPr>
            <a:r>
              <a:rPr lang="en-US" sz="2000" dirty="0"/>
              <a:t>Find incomplete data and determine the best way to handle this (throw away or fill in with set value).</a:t>
            </a:r>
          </a:p>
          <a:p>
            <a:pPr marL="800100" lvl="1" indent="-342900">
              <a:buFont typeface="+mj-lt"/>
              <a:buAutoNum type="arabicPeriod"/>
            </a:pPr>
            <a:r>
              <a:rPr lang="en-US" sz="2000" dirty="0"/>
              <a:t>Propose new features that would lend insight into housing renewal decisions.</a:t>
            </a:r>
            <a:endParaRPr lang="en-US" sz="2800" dirty="0"/>
          </a:p>
        </p:txBody>
      </p:sp>
    </p:spTree>
    <p:extLst>
      <p:ext uri="{BB962C8B-B14F-4D97-AF65-F5344CB8AC3E}">
        <p14:creationId xmlns:p14="http://schemas.microsoft.com/office/powerpoint/2010/main" val="3841415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C663-983C-C0FC-43C0-B37A56995515}"/>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2FB6F010-40ED-A5EF-175C-18790CCBE0D9}"/>
              </a:ext>
            </a:extLst>
          </p:cNvPr>
          <p:cNvSpPr>
            <a:spLocks noGrp="1"/>
          </p:cNvSpPr>
          <p:nvPr>
            <p:ph type="sldNum" sz="quarter" idx="12"/>
          </p:nvPr>
        </p:nvSpPr>
        <p:spPr/>
        <p:txBody>
          <a:bodyPr/>
          <a:lstStyle/>
          <a:p>
            <a:fld id="{DCC1F92A-C6D8-4423-A6E5-606ADED483CD}" type="slidenum">
              <a:rPr lang="en-US" smtClean="0"/>
              <a:t>4</a:t>
            </a:fld>
            <a:endParaRPr lang="en-US"/>
          </a:p>
        </p:txBody>
      </p:sp>
      <p:sp>
        <p:nvSpPr>
          <p:cNvPr id="5" name="TextBox 4">
            <a:extLst>
              <a:ext uri="{FF2B5EF4-FFF2-40B4-BE49-F238E27FC236}">
                <a16:creationId xmlns:a16="http://schemas.microsoft.com/office/drawing/2014/main" id="{E71FD4E0-33DC-8750-A4CF-6FB5586F0CF5}"/>
              </a:ext>
            </a:extLst>
          </p:cNvPr>
          <p:cNvSpPr txBox="1"/>
          <p:nvPr/>
        </p:nvSpPr>
        <p:spPr>
          <a:xfrm>
            <a:off x="5000988" y="1896894"/>
            <a:ext cx="2190023" cy="369332"/>
          </a:xfrm>
          <a:prstGeom prst="rect">
            <a:avLst/>
          </a:prstGeom>
          <a:noFill/>
        </p:spPr>
        <p:txBody>
          <a:bodyPr wrap="none" rtlCol="0">
            <a:spAutoFit/>
          </a:bodyPr>
          <a:lstStyle/>
          <a:p>
            <a:r>
              <a:rPr lang="en-US" dirty="0"/>
              <a:t>File: residents (</a:t>
            </a:r>
            <a:r>
              <a:rPr lang="en-US" dirty="0" err="1"/>
              <a:t>db</a:t>
            </a:r>
            <a:r>
              <a:rPr lang="en-US" dirty="0"/>
              <a:t>)</a:t>
            </a:r>
          </a:p>
        </p:txBody>
      </p:sp>
      <p:sp>
        <p:nvSpPr>
          <p:cNvPr id="6" name="TextBox 5">
            <a:extLst>
              <a:ext uri="{FF2B5EF4-FFF2-40B4-BE49-F238E27FC236}">
                <a16:creationId xmlns:a16="http://schemas.microsoft.com/office/drawing/2014/main" id="{837D7C4A-166B-1400-B733-60EEA54D81B9}"/>
              </a:ext>
            </a:extLst>
          </p:cNvPr>
          <p:cNvSpPr txBox="1"/>
          <p:nvPr/>
        </p:nvSpPr>
        <p:spPr>
          <a:xfrm>
            <a:off x="1097280" y="2425760"/>
            <a:ext cx="2332690" cy="1754326"/>
          </a:xfrm>
          <a:prstGeom prst="rect">
            <a:avLst/>
          </a:prstGeom>
          <a:noFill/>
        </p:spPr>
        <p:txBody>
          <a:bodyPr wrap="none" rtlCol="0">
            <a:spAutoFit/>
          </a:bodyPr>
          <a:lstStyle/>
          <a:p>
            <a:r>
              <a:rPr lang="en-US" dirty="0"/>
              <a:t>Numerical: </a:t>
            </a:r>
          </a:p>
          <a:p>
            <a:pPr marL="285750" indent="-285750">
              <a:buFont typeface="Arial" panose="020B0604020202020204" pitchFamily="34" charset="0"/>
              <a:buChar char="•"/>
            </a:pPr>
            <a:r>
              <a:rPr lang="en-US" dirty="0" err="1"/>
              <a:t>resident_id</a:t>
            </a:r>
            <a:endParaRPr lang="en-US" dirty="0"/>
          </a:p>
          <a:p>
            <a:pPr marL="285750" indent="-285750">
              <a:buFont typeface="Arial" panose="020B0604020202020204" pitchFamily="34" charset="0"/>
              <a:buChar char="•"/>
            </a:pPr>
            <a:r>
              <a:rPr lang="en-US" dirty="0"/>
              <a:t>age</a:t>
            </a:r>
          </a:p>
          <a:p>
            <a:pPr marL="285750" indent="-285750">
              <a:buFont typeface="Arial" panose="020B0604020202020204" pitchFamily="34" charset="0"/>
              <a:buChar char="•"/>
            </a:pPr>
            <a:r>
              <a:rPr lang="en-US" dirty="0" err="1"/>
              <a:t>parking_space_id</a:t>
            </a:r>
            <a:endParaRPr lang="en-US" dirty="0"/>
          </a:p>
          <a:p>
            <a:pPr marL="285750" indent="-285750">
              <a:buFont typeface="Arial" panose="020B0604020202020204" pitchFamily="34" charset="0"/>
              <a:buChar char="•"/>
            </a:pPr>
            <a:r>
              <a:rPr lang="en-US" dirty="0" err="1"/>
              <a:t>unit_number</a:t>
            </a:r>
            <a:endParaRPr lang="en-US" dirty="0"/>
          </a:p>
          <a:p>
            <a:pPr marL="285750" indent="-285750">
              <a:buFont typeface="Arial" panose="020B0604020202020204" pitchFamily="34" charset="0"/>
              <a:buChar char="•"/>
            </a:pPr>
            <a:r>
              <a:rPr lang="en-US" dirty="0" err="1"/>
              <a:t>monthly_rent</a:t>
            </a:r>
            <a:r>
              <a:rPr lang="en-US" dirty="0"/>
              <a:t> </a:t>
            </a:r>
          </a:p>
        </p:txBody>
      </p:sp>
      <p:sp>
        <p:nvSpPr>
          <p:cNvPr id="7" name="TextBox 6">
            <a:extLst>
              <a:ext uri="{FF2B5EF4-FFF2-40B4-BE49-F238E27FC236}">
                <a16:creationId xmlns:a16="http://schemas.microsoft.com/office/drawing/2014/main" id="{E9134C7B-91BD-8555-1CB9-9E5F6EBD8550}"/>
              </a:ext>
            </a:extLst>
          </p:cNvPr>
          <p:cNvSpPr txBox="1"/>
          <p:nvPr/>
        </p:nvSpPr>
        <p:spPr>
          <a:xfrm>
            <a:off x="5713345" y="2425760"/>
            <a:ext cx="3048687" cy="3416320"/>
          </a:xfrm>
          <a:prstGeom prst="rect">
            <a:avLst/>
          </a:prstGeom>
          <a:noFill/>
        </p:spPr>
        <p:txBody>
          <a:bodyPr wrap="square" rtlCol="0">
            <a:spAutoFit/>
          </a:bodyPr>
          <a:lstStyle/>
          <a:p>
            <a:r>
              <a:rPr lang="en-US" dirty="0"/>
              <a:t>Non-Numerical: </a:t>
            </a:r>
          </a:p>
          <a:p>
            <a:pPr marL="285750" indent="-285750">
              <a:buFont typeface="Arial" panose="020B0604020202020204" pitchFamily="34" charset="0"/>
              <a:buChar char="•"/>
            </a:pPr>
            <a:r>
              <a:rPr lang="en-US" dirty="0"/>
              <a:t>name</a:t>
            </a:r>
          </a:p>
          <a:p>
            <a:pPr marL="285750" indent="-285750">
              <a:buFont typeface="Arial" panose="020B0604020202020204" pitchFamily="34" charset="0"/>
              <a:buChar char="•"/>
            </a:pPr>
            <a:r>
              <a:rPr lang="en-US" dirty="0" err="1"/>
              <a:t>phone_number</a:t>
            </a:r>
            <a:endParaRPr lang="en-US" dirty="0"/>
          </a:p>
          <a:p>
            <a:pPr marL="285750" indent="-285750">
              <a:buFont typeface="Arial" panose="020B0604020202020204" pitchFamily="34" charset="0"/>
              <a:buChar char="•"/>
            </a:pPr>
            <a:r>
              <a:rPr lang="en-US" dirty="0" err="1"/>
              <a:t>emergency_contact</a:t>
            </a:r>
            <a:endParaRPr lang="en-US" dirty="0"/>
          </a:p>
          <a:p>
            <a:pPr marL="285750" indent="-285750">
              <a:buFont typeface="Arial" panose="020B0604020202020204" pitchFamily="34" charset="0"/>
              <a:buChar char="•"/>
            </a:pPr>
            <a:r>
              <a:rPr lang="en-US" dirty="0" err="1"/>
              <a:t>lease_start_date</a:t>
            </a:r>
            <a:endParaRPr lang="en-US" dirty="0"/>
          </a:p>
          <a:p>
            <a:pPr marL="285750" indent="-285750">
              <a:buFont typeface="Arial" panose="020B0604020202020204" pitchFamily="34" charset="0"/>
              <a:buChar char="•"/>
            </a:pPr>
            <a:r>
              <a:rPr lang="en-US" dirty="0" err="1"/>
              <a:t>lease_end_date</a:t>
            </a:r>
            <a:endParaRPr lang="en-US" dirty="0"/>
          </a:p>
          <a:p>
            <a:pPr marL="285750" indent="-285750">
              <a:buFont typeface="Arial" panose="020B0604020202020204" pitchFamily="34" charset="0"/>
              <a:buChar char="•"/>
            </a:pPr>
            <a:r>
              <a:rPr lang="en-US" dirty="0" err="1"/>
              <a:t>pet_details</a:t>
            </a:r>
            <a:endParaRPr lang="en-US" dirty="0"/>
          </a:p>
          <a:p>
            <a:pPr marL="285750" indent="-285750">
              <a:buFont typeface="Arial" panose="020B0604020202020204" pitchFamily="34" charset="0"/>
              <a:buChar char="•"/>
            </a:pPr>
            <a:r>
              <a:rPr lang="en-US" dirty="0"/>
              <a:t>referral</a:t>
            </a:r>
          </a:p>
          <a:p>
            <a:pPr marL="285750" indent="-285750">
              <a:buFont typeface="Arial" panose="020B0604020202020204" pitchFamily="34" charset="0"/>
              <a:buChar char="•"/>
            </a:pPr>
            <a:r>
              <a:rPr lang="en-US" dirty="0" err="1"/>
              <a:t>call_history</a:t>
            </a:r>
            <a:endParaRPr lang="en-US" dirty="0"/>
          </a:p>
          <a:p>
            <a:pPr marL="285750" indent="-285750">
              <a:buFont typeface="Arial" panose="020B0604020202020204" pitchFamily="34" charset="0"/>
              <a:buChar char="•"/>
            </a:pPr>
            <a:r>
              <a:rPr lang="en-US" dirty="0" err="1"/>
              <a:t>payment_method</a:t>
            </a:r>
            <a:endParaRPr lang="en-US" dirty="0"/>
          </a:p>
          <a:p>
            <a:pPr marL="285750" indent="-285750">
              <a:buFont typeface="Arial" panose="020B0604020202020204" pitchFamily="34" charset="0"/>
              <a:buChar char="•"/>
            </a:pPr>
            <a:r>
              <a:rPr lang="en-US" dirty="0" err="1"/>
              <a:t>ADA_support</a:t>
            </a:r>
            <a:endParaRPr lang="en-US" dirty="0"/>
          </a:p>
          <a:p>
            <a:pPr marL="285750" indent="-285750">
              <a:buFont typeface="Arial" panose="020B0604020202020204" pitchFamily="34" charset="0"/>
              <a:buChar char="•"/>
            </a:pPr>
            <a:r>
              <a:rPr lang="en-US" dirty="0" err="1"/>
              <a:t>newletter_opt_in</a:t>
            </a:r>
            <a:endParaRPr lang="en-US" dirty="0"/>
          </a:p>
        </p:txBody>
      </p:sp>
    </p:spTree>
    <p:extLst>
      <p:ext uri="{BB962C8B-B14F-4D97-AF65-F5344CB8AC3E}">
        <p14:creationId xmlns:p14="http://schemas.microsoft.com/office/powerpoint/2010/main" val="278501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C663-983C-C0FC-43C0-B37A56995515}"/>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2FB6F010-40ED-A5EF-175C-18790CCBE0D9}"/>
              </a:ext>
            </a:extLst>
          </p:cNvPr>
          <p:cNvSpPr>
            <a:spLocks noGrp="1"/>
          </p:cNvSpPr>
          <p:nvPr>
            <p:ph type="sldNum" sz="quarter" idx="12"/>
          </p:nvPr>
        </p:nvSpPr>
        <p:spPr/>
        <p:txBody>
          <a:bodyPr/>
          <a:lstStyle/>
          <a:p>
            <a:fld id="{DCC1F92A-C6D8-4423-A6E5-606ADED483CD}" type="slidenum">
              <a:rPr lang="en-US" smtClean="0"/>
              <a:t>5</a:t>
            </a:fld>
            <a:endParaRPr lang="en-US"/>
          </a:p>
        </p:txBody>
      </p:sp>
      <p:sp>
        <p:nvSpPr>
          <p:cNvPr id="5" name="TextBox 4">
            <a:extLst>
              <a:ext uri="{FF2B5EF4-FFF2-40B4-BE49-F238E27FC236}">
                <a16:creationId xmlns:a16="http://schemas.microsoft.com/office/drawing/2014/main" id="{E71FD4E0-33DC-8750-A4CF-6FB5586F0CF5}"/>
              </a:ext>
            </a:extLst>
          </p:cNvPr>
          <p:cNvSpPr txBox="1"/>
          <p:nvPr/>
        </p:nvSpPr>
        <p:spPr>
          <a:xfrm>
            <a:off x="5000988" y="1896894"/>
            <a:ext cx="2190023" cy="369332"/>
          </a:xfrm>
          <a:prstGeom prst="rect">
            <a:avLst/>
          </a:prstGeom>
          <a:noFill/>
        </p:spPr>
        <p:txBody>
          <a:bodyPr wrap="none" rtlCol="0">
            <a:spAutoFit/>
          </a:bodyPr>
          <a:lstStyle/>
          <a:p>
            <a:r>
              <a:rPr lang="en-US" dirty="0"/>
              <a:t>File: residents (</a:t>
            </a:r>
            <a:r>
              <a:rPr lang="en-US" dirty="0" err="1"/>
              <a:t>db</a:t>
            </a:r>
            <a:r>
              <a:rPr lang="en-US" dirty="0"/>
              <a:t>)</a:t>
            </a:r>
          </a:p>
        </p:txBody>
      </p:sp>
      <p:sp>
        <p:nvSpPr>
          <p:cNvPr id="6" name="TextBox 5">
            <a:extLst>
              <a:ext uri="{FF2B5EF4-FFF2-40B4-BE49-F238E27FC236}">
                <a16:creationId xmlns:a16="http://schemas.microsoft.com/office/drawing/2014/main" id="{837D7C4A-166B-1400-B733-60EEA54D81B9}"/>
              </a:ext>
            </a:extLst>
          </p:cNvPr>
          <p:cNvSpPr txBox="1"/>
          <p:nvPr/>
        </p:nvSpPr>
        <p:spPr>
          <a:xfrm>
            <a:off x="1097280" y="2425760"/>
            <a:ext cx="2332690" cy="1754326"/>
          </a:xfrm>
          <a:prstGeom prst="rect">
            <a:avLst/>
          </a:prstGeom>
          <a:noFill/>
        </p:spPr>
        <p:txBody>
          <a:bodyPr wrap="none" rtlCol="0">
            <a:spAutoFit/>
          </a:bodyPr>
          <a:lstStyle/>
          <a:p>
            <a:r>
              <a:rPr lang="en-US" dirty="0"/>
              <a:t>Numerical: </a:t>
            </a:r>
          </a:p>
          <a:p>
            <a:pPr marL="285750" indent="-285750">
              <a:buFont typeface="Arial" panose="020B0604020202020204" pitchFamily="34" charset="0"/>
              <a:buChar char="•"/>
            </a:pPr>
            <a:r>
              <a:rPr lang="en-US" dirty="0" err="1"/>
              <a:t>resident_id</a:t>
            </a:r>
            <a:endParaRPr lang="en-US" dirty="0"/>
          </a:p>
          <a:p>
            <a:pPr marL="285750" indent="-285750">
              <a:buFont typeface="Arial" panose="020B0604020202020204" pitchFamily="34" charset="0"/>
              <a:buChar char="•"/>
            </a:pPr>
            <a:r>
              <a:rPr lang="en-US" dirty="0"/>
              <a:t>age</a:t>
            </a:r>
          </a:p>
          <a:p>
            <a:pPr marL="285750" indent="-285750">
              <a:buFont typeface="Arial" panose="020B0604020202020204" pitchFamily="34" charset="0"/>
              <a:buChar char="•"/>
            </a:pPr>
            <a:r>
              <a:rPr lang="en-US" dirty="0" err="1"/>
              <a:t>parking_space_id</a:t>
            </a:r>
            <a:endParaRPr lang="en-US" dirty="0"/>
          </a:p>
          <a:p>
            <a:pPr marL="285750" indent="-285750">
              <a:buFont typeface="Arial" panose="020B0604020202020204" pitchFamily="34" charset="0"/>
              <a:buChar char="•"/>
            </a:pPr>
            <a:r>
              <a:rPr lang="en-US" dirty="0" err="1"/>
              <a:t>unit_number</a:t>
            </a:r>
            <a:endParaRPr lang="en-US" dirty="0"/>
          </a:p>
          <a:p>
            <a:pPr marL="285750" indent="-285750">
              <a:buFont typeface="Arial" panose="020B0604020202020204" pitchFamily="34" charset="0"/>
              <a:buChar char="•"/>
            </a:pPr>
            <a:r>
              <a:rPr lang="en-US" dirty="0" err="1"/>
              <a:t>monthly_rent</a:t>
            </a:r>
            <a:r>
              <a:rPr lang="en-US" dirty="0"/>
              <a:t> </a:t>
            </a:r>
          </a:p>
        </p:txBody>
      </p:sp>
      <p:sp>
        <p:nvSpPr>
          <p:cNvPr id="7" name="TextBox 6">
            <a:extLst>
              <a:ext uri="{FF2B5EF4-FFF2-40B4-BE49-F238E27FC236}">
                <a16:creationId xmlns:a16="http://schemas.microsoft.com/office/drawing/2014/main" id="{E9134C7B-91BD-8555-1CB9-9E5F6EBD8550}"/>
              </a:ext>
            </a:extLst>
          </p:cNvPr>
          <p:cNvSpPr txBox="1"/>
          <p:nvPr/>
        </p:nvSpPr>
        <p:spPr>
          <a:xfrm>
            <a:off x="5713345" y="2425760"/>
            <a:ext cx="3048687" cy="3416320"/>
          </a:xfrm>
          <a:prstGeom prst="rect">
            <a:avLst/>
          </a:prstGeom>
          <a:noFill/>
        </p:spPr>
        <p:txBody>
          <a:bodyPr wrap="square" rtlCol="0">
            <a:spAutoFit/>
          </a:bodyPr>
          <a:lstStyle/>
          <a:p>
            <a:r>
              <a:rPr lang="en-US" dirty="0"/>
              <a:t>Non-Numerical: </a:t>
            </a:r>
          </a:p>
          <a:p>
            <a:pPr marL="285750" indent="-285750">
              <a:buFont typeface="Arial" panose="020B0604020202020204" pitchFamily="34" charset="0"/>
              <a:buChar char="•"/>
            </a:pPr>
            <a:r>
              <a:rPr lang="en-US" dirty="0"/>
              <a:t>name</a:t>
            </a:r>
          </a:p>
          <a:p>
            <a:pPr marL="285750" indent="-285750">
              <a:buFont typeface="Arial" panose="020B0604020202020204" pitchFamily="34" charset="0"/>
              <a:buChar char="•"/>
            </a:pPr>
            <a:r>
              <a:rPr lang="en-US" dirty="0" err="1"/>
              <a:t>phone_number</a:t>
            </a:r>
            <a:endParaRPr lang="en-US" dirty="0"/>
          </a:p>
          <a:p>
            <a:pPr marL="285750" indent="-285750">
              <a:buFont typeface="Arial" panose="020B0604020202020204" pitchFamily="34" charset="0"/>
              <a:buChar char="•"/>
            </a:pPr>
            <a:r>
              <a:rPr lang="en-US" dirty="0" err="1"/>
              <a:t>emergency_contact</a:t>
            </a:r>
            <a:endParaRPr lang="en-US" dirty="0"/>
          </a:p>
          <a:p>
            <a:pPr marL="285750" indent="-285750">
              <a:buFont typeface="Arial" panose="020B0604020202020204" pitchFamily="34" charset="0"/>
              <a:buChar char="•"/>
            </a:pPr>
            <a:r>
              <a:rPr lang="en-US" dirty="0" err="1"/>
              <a:t>lease_start_date</a:t>
            </a:r>
            <a:endParaRPr lang="en-US" dirty="0"/>
          </a:p>
          <a:p>
            <a:pPr marL="285750" indent="-285750">
              <a:buFont typeface="Arial" panose="020B0604020202020204" pitchFamily="34" charset="0"/>
              <a:buChar char="•"/>
            </a:pPr>
            <a:r>
              <a:rPr lang="en-US" dirty="0" err="1"/>
              <a:t>lease_end_date</a:t>
            </a:r>
            <a:endParaRPr lang="en-US" dirty="0"/>
          </a:p>
          <a:p>
            <a:pPr marL="285750" indent="-285750">
              <a:buFont typeface="Arial" panose="020B0604020202020204" pitchFamily="34" charset="0"/>
              <a:buChar char="•"/>
            </a:pPr>
            <a:r>
              <a:rPr lang="en-US" dirty="0" err="1"/>
              <a:t>pet_details</a:t>
            </a:r>
            <a:endParaRPr lang="en-US" dirty="0"/>
          </a:p>
          <a:p>
            <a:pPr marL="285750" indent="-285750">
              <a:buFont typeface="Arial" panose="020B0604020202020204" pitchFamily="34" charset="0"/>
              <a:buChar char="•"/>
            </a:pPr>
            <a:r>
              <a:rPr lang="en-US" dirty="0"/>
              <a:t>referral</a:t>
            </a:r>
          </a:p>
          <a:p>
            <a:pPr marL="285750" indent="-285750">
              <a:buFont typeface="Arial" panose="020B0604020202020204" pitchFamily="34" charset="0"/>
              <a:buChar char="•"/>
            </a:pPr>
            <a:r>
              <a:rPr lang="en-US" dirty="0" err="1"/>
              <a:t>call_history</a:t>
            </a:r>
            <a:endParaRPr lang="en-US" dirty="0"/>
          </a:p>
          <a:p>
            <a:pPr marL="285750" indent="-285750">
              <a:buFont typeface="Arial" panose="020B0604020202020204" pitchFamily="34" charset="0"/>
              <a:buChar char="•"/>
            </a:pPr>
            <a:r>
              <a:rPr lang="en-US" dirty="0" err="1"/>
              <a:t>payment_method</a:t>
            </a:r>
            <a:endParaRPr lang="en-US" dirty="0"/>
          </a:p>
          <a:p>
            <a:pPr marL="285750" indent="-285750">
              <a:buFont typeface="Arial" panose="020B0604020202020204" pitchFamily="34" charset="0"/>
              <a:buChar char="•"/>
            </a:pPr>
            <a:r>
              <a:rPr lang="en-US" dirty="0" err="1"/>
              <a:t>ADA_support</a:t>
            </a:r>
            <a:endParaRPr lang="en-US" dirty="0"/>
          </a:p>
          <a:p>
            <a:pPr marL="285750" indent="-285750">
              <a:buFont typeface="Arial" panose="020B0604020202020204" pitchFamily="34" charset="0"/>
              <a:buChar char="•"/>
            </a:pPr>
            <a:r>
              <a:rPr lang="en-US" dirty="0" err="1"/>
              <a:t>newletter_opt_in</a:t>
            </a:r>
            <a:endParaRPr lang="en-US" dirty="0"/>
          </a:p>
        </p:txBody>
      </p:sp>
      <p:sp>
        <p:nvSpPr>
          <p:cNvPr id="3" name="Rectangle 2">
            <a:extLst>
              <a:ext uri="{FF2B5EF4-FFF2-40B4-BE49-F238E27FC236}">
                <a16:creationId xmlns:a16="http://schemas.microsoft.com/office/drawing/2014/main" id="{8E88811A-C38B-7A6F-AE91-2C990E27F6AD}"/>
              </a:ext>
            </a:extLst>
          </p:cNvPr>
          <p:cNvSpPr/>
          <p:nvPr/>
        </p:nvSpPr>
        <p:spPr>
          <a:xfrm>
            <a:off x="1422401" y="2733963"/>
            <a:ext cx="1477818" cy="323273"/>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C229DDB-3BEA-AE20-C866-3CF8BD912A11}"/>
              </a:ext>
            </a:extLst>
          </p:cNvPr>
          <p:cNvSpPr/>
          <p:nvPr/>
        </p:nvSpPr>
        <p:spPr>
          <a:xfrm>
            <a:off x="1422401" y="3561537"/>
            <a:ext cx="1477818" cy="323273"/>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4756E6F-0222-C1DB-DD83-0BE8B8B3143D}"/>
              </a:ext>
            </a:extLst>
          </p:cNvPr>
          <p:cNvSpPr txBox="1"/>
          <p:nvPr/>
        </p:nvSpPr>
        <p:spPr>
          <a:xfrm>
            <a:off x="2930785" y="2549297"/>
            <a:ext cx="1305165" cy="369332"/>
          </a:xfrm>
          <a:prstGeom prst="rect">
            <a:avLst/>
          </a:prstGeom>
          <a:noFill/>
        </p:spPr>
        <p:txBody>
          <a:bodyPr wrap="none" rtlCol="0">
            <a:spAutoFit/>
          </a:bodyPr>
          <a:lstStyle/>
          <a:p>
            <a:r>
              <a:rPr lang="en-US" dirty="0">
                <a:solidFill>
                  <a:srgbClr val="00B0F0"/>
                </a:solidFill>
              </a:rPr>
              <a:t>Identifiers</a:t>
            </a:r>
          </a:p>
        </p:txBody>
      </p:sp>
      <p:cxnSp>
        <p:nvCxnSpPr>
          <p:cNvPr id="11" name="Straight Connector 10">
            <a:extLst>
              <a:ext uri="{FF2B5EF4-FFF2-40B4-BE49-F238E27FC236}">
                <a16:creationId xmlns:a16="http://schemas.microsoft.com/office/drawing/2014/main" id="{71395376-0FBC-3329-3D5A-51CC0D3B93C7}"/>
              </a:ext>
            </a:extLst>
          </p:cNvPr>
          <p:cNvCxnSpPr/>
          <p:nvPr/>
        </p:nvCxnSpPr>
        <p:spPr>
          <a:xfrm flipH="1">
            <a:off x="1422401" y="3449781"/>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C76F15-2DE4-3417-AC47-51C7D003165E}"/>
              </a:ext>
            </a:extLst>
          </p:cNvPr>
          <p:cNvCxnSpPr/>
          <p:nvPr/>
        </p:nvCxnSpPr>
        <p:spPr>
          <a:xfrm flipH="1">
            <a:off x="6095999" y="2895599"/>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764A93C-7082-B5D5-E9E6-77C50ADAD6E3}"/>
              </a:ext>
            </a:extLst>
          </p:cNvPr>
          <p:cNvCxnSpPr/>
          <p:nvPr/>
        </p:nvCxnSpPr>
        <p:spPr>
          <a:xfrm flipH="1">
            <a:off x="6095999" y="3205017"/>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BF7720-A93E-0007-3AD8-5F73CB6BB62E}"/>
              </a:ext>
            </a:extLst>
          </p:cNvPr>
          <p:cNvCxnSpPr/>
          <p:nvPr/>
        </p:nvCxnSpPr>
        <p:spPr>
          <a:xfrm flipH="1">
            <a:off x="6095999" y="3459016"/>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89CBFF7-B1AB-643D-3072-2A8E884A08B4}"/>
              </a:ext>
            </a:extLst>
          </p:cNvPr>
          <p:cNvCxnSpPr/>
          <p:nvPr/>
        </p:nvCxnSpPr>
        <p:spPr>
          <a:xfrm flipH="1">
            <a:off x="6095999" y="4835234"/>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FF692E-826B-66D7-90DF-A26E38721311}"/>
              </a:ext>
            </a:extLst>
          </p:cNvPr>
          <p:cNvCxnSpPr/>
          <p:nvPr/>
        </p:nvCxnSpPr>
        <p:spPr>
          <a:xfrm flipH="1">
            <a:off x="6095999" y="5112325"/>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1526FFD-D5E5-FD06-43C1-9AEBDC26001D}"/>
              </a:ext>
            </a:extLst>
          </p:cNvPr>
          <p:cNvSpPr/>
          <p:nvPr/>
        </p:nvSpPr>
        <p:spPr>
          <a:xfrm>
            <a:off x="5991419" y="3533829"/>
            <a:ext cx="2124365" cy="618549"/>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0D520A3-AD52-D5C8-5A44-7943E832B2EB}"/>
              </a:ext>
            </a:extLst>
          </p:cNvPr>
          <p:cNvSpPr/>
          <p:nvPr/>
        </p:nvSpPr>
        <p:spPr>
          <a:xfrm>
            <a:off x="5969964" y="5223531"/>
            <a:ext cx="2124365" cy="618549"/>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E888FA3-39E9-3F85-E1CF-5C6E7A27C2AE}"/>
              </a:ext>
            </a:extLst>
          </p:cNvPr>
          <p:cNvSpPr txBox="1"/>
          <p:nvPr/>
        </p:nvSpPr>
        <p:spPr>
          <a:xfrm>
            <a:off x="8115784" y="3686145"/>
            <a:ext cx="2359941" cy="369332"/>
          </a:xfrm>
          <a:prstGeom prst="rect">
            <a:avLst/>
          </a:prstGeom>
          <a:noFill/>
        </p:spPr>
        <p:txBody>
          <a:bodyPr wrap="none" rtlCol="0">
            <a:spAutoFit/>
          </a:bodyPr>
          <a:lstStyle/>
          <a:p>
            <a:r>
              <a:rPr lang="en-US" dirty="0">
                <a:solidFill>
                  <a:srgbClr val="7030A0"/>
                </a:solidFill>
              </a:rPr>
              <a:t>Convert to </a:t>
            </a:r>
            <a:r>
              <a:rPr lang="en-US" dirty="0" err="1">
                <a:solidFill>
                  <a:srgbClr val="7030A0"/>
                </a:solidFill>
              </a:rPr>
              <a:t>numerics</a:t>
            </a:r>
            <a:endParaRPr lang="en-US" dirty="0">
              <a:solidFill>
                <a:srgbClr val="7030A0"/>
              </a:solidFill>
            </a:endParaRPr>
          </a:p>
        </p:txBody>
      </p:sp>
      <p:sp>
        <p:nvSpPr>
          <p:cNvPr id="20" name="TextBox 19">
            <a:extLst>
              <a:ext uri="{FF2B5EF4-FFF2-40B4-BE49-F238E27FC236}">
                <a16:creationId xmlns:a16="http://schemas.microsoft.com/office/drawing/2014/main" id="{25422AC6-9F5D-44BD-179D-D541275B34D2}"/>
              </a:ext>
            </a:extLst>
          </p:cNvPr>
          <p:cNvSpPr txBox="1"/>
          <p:nvPr/>
        </p:nvSpPr>
        <p:spPr>
          <a:xfrm>
            <a:off x="8220362" y="5078284"/>
            <a:ext cx="2576948" cy="923330"/>
          </a:xfrm>
          <a:prstGeom prst="rect">
            <a:avLst/>
          </a:prstGeom>
          <a:noFill/>
        </p:spPr>
        <p:txBody>
          <a:bodyPr wrap="square" rtlCol="0">
            <a:spAutoFit/>
          </a:bodyPr>
          <a:lstStyle/>
          <a:p>
            <a:r>
              <a:rPr lang="en-US" dirty="0">
                <a:solidFill>
                  <a:schemeClr val="accent3"/>
                </a:solidFill>
              </a:rPr>
              <a:t>Convert to binary </a:t>
            </a:r>
          </a:p>
          <a:p>
            <a:r>
              <a:rPr lang="en-US" dirty="0">
                <a:solidFill>
                  <a:schemeClr val="accent3"/>
                </a:solidFill>
              </a:rPr>
              <a:t>(lose information about type of support)</a:t>
            </a:r>
          </a:p>
        </p:txBody>
      </p:sp>
      <p:sp>
        <p:nvSpPr>
          <p:cNvPr id="21" name="Rectangle 20">
            <a:extLst>
              <a:ext uri="{FF2B5EF4-FFF2-40B4-BE49-F238E27FC236}">
                <a16:creationId xmlns:a16="http://schemas.microsoft.com/office/drawing/2014/main" id="{8D2FBB2E-609D-922D-7579-D9BC57CDFF7C}"/>
              </a:ext>
            </a:extLst>
          </p:cNvPr>
          <p:cNvSpPr/>
          <p:nvPr/>
        </p:nvSpPr>
        <p:spPr>
          <a:xfrm>
            <a:off x="5991419" y="4166683"/>
            <a:ext cx="2124365" cy="262786"/>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257D18F-358B-03CD-B859-FDF003BC24CF}"/>
              </a:ext>
            </a:extLst>
          </p:cNvPr>
          <p:cNvSpPr/>
          <p:nvPr/>
        </p:nvSpPr>
        <p:spPr>
          <a:xfrm>
            <a:off x="5991419" y="4433903"/>
            <a:ext cx="2124365" cy="262786"/>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208F9EE-6715-8867-3BE7-16F7390BF81D}"/>
              </a:ext>
            </a:extLst>
          </p:cNvPr>
          <p:cNvSpPr txBox="1"/>
          <p:nvPr/>
        </p:nvSpPr>
        <p:spPr>
          <a:xfrm>
            <a:off x="8115784" y="4110692"/>
            <a:ext cx="3805850" cy="369332"/>
          </a:xfrm>
          <a:prstGeom prst="rect">
            <a:avLst/>
          </a:prstGeom>
          <a:noFill/>
        </p:spPr>
        <p:txBody>
          <a:bodyPr wrap="none" rtlCol="0">
            <a:spAutoFit/>
          </a:bodyPr>
          <a:lstStyle/>
          <a:p>
            <a:r>
              <a:rPr lang="en-US" dirty="0">
                <a:solidFill>
                  <a:srgbClr val="FFC000"/>
                </a:solidFill>
              </a:rPr>
              <a:t>Integer Embedding (lose pet type)</a:t>
            </a:r>
          </a:p>
        </p:txBody>
      </p:sp>
      <p:sp>
        <p:nvSpPr>
          <p:cNvPr id="24" name="TextBox 23">
            <a:extLst>
              <a:ext uri="{FF2B5EF4-FFF2-40B4-BE49-F238E27FC236}">
                <a16:creationId xmlns:a16="http://schemas.microsoft.com/office/drawing/2014/main" id="{707A160E-3EA5-F5F0-2E20-E662C57C2CF4}"/>
              </a:ext>
            </a:extLst>
          </p:cNvPr>
          <p:cNvSpPr txBox="1"/>
          <p:nvPr/>
        </p:nvSpPr>
        <p:spPr>
          <a:xfrm>
            <a:off x="8115784" y="4435447"/>
            <a:ext cx="2377574" cy="369332"/>
          </a:xfrm>
          <a:prstGeom prst="rect">
            <a:avLst/>
          </a:prstGeom>
          <a:noFill/>
        </p:spPr>
        <p:txBody>
          <a:bodyPr wrap="none" rtlCol="0">
            <a:spAutoFit/>
          </a:bodyPr>
          <a:lstStyle/>
          <a:p>
            <a:r>
              <a:rPr lang="en-US" dirty="0">
                <a:solidFill>
                  <a:srgbClr val="00B050"/>
                </a:solidFill>
              </a:rPr>
              <a:t>One-Hot Embedding</a:t>
            </a:r>
          </a:p>
        </p:txBody>
      </p:sp>
    </p:spTree>
    <p:extLst>
      <p:ext uri="{BB962C8B-B14F-4D97-AF65-F5344CB8AC3E}">
        <p14:creationId xmlns:p14="http://schemas.microsoft.com/office/powerpoint/2010/main" val="1695698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C663-983C-C0FC-43C0-B37A56995515}"/>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2FB6F010-40ED-A5EF-175C-18790CCBE0D9}"/>
              </a:ext>
            </a:extLst>
          </p:cNvPr>
          <p:cNvSpPr>
            <a:spLocks noGrp="1"/>
          </p:cNvSpPr>
          <p:nvPr>
            <p:ph type="sldNum" sz="quarter" idx="12"/>
          </p:nvPr>
        </p:nvSpPr>
        <p:spPr/>
        <p:txBody>
          <a:bodyPr/>
          <a:lstStyle/>
          <a:p>
            <a:fld id="{DCC1F92A-C6D8-4423-A6E5-606ADED483CD}" type="slidenum">
              <a:rPr lang="en-US" smtClean="0"/>
              <a:t>6</a:t>
            </a:fld>
            <a:endParaRPr lang="en-US"/>
          </a:p>
        </p:txBody>
      </p:sp>
      <p:sp>
        <p:nvSpPr>
          <p:cNvPr id="5" name="TextBox 4">
            <a:extLst>
              <a:ext uri="{FF2B5EF4-FFF2-40B4-BE49-F238E27FC236}">
                <a16:creationId xmlns:a16="http://schemas.microsoft.com/office/drawing/2014/main" id="{E71FD4E0-33DC-8750-A4CF-6FB5586F0CF5}"/>
              </a:ext>
            </a:extLst>
          </p:cNvPr>
          <p:cNvSpPr txBox="1"/>
          <p:nvPr/>
        </p:nvSpPr>
        <p:spPr>
          <a:xfrm>
            <a:off x="5000988" y="1896894"/>
            <a:ext cx="2585964" cy="369332"/>
          </a:xfrm>
          <a:prstGeom prst="rect">
            <a:avLst/>
          </a:prstGeom>
          <a:noFill/>
        </p:spPr>
        <p:txBody>
          <a:bodyPr wrap="none" rtlCol="0">
            <a:spAutoFit/>
          </a:bodyPr>
          <a:lstStyle/>
          <a:p>
            <a:r>
              <a:rPr lang="en-US" dirty="0"/>
              <a:t>File: maintenance (</a:t>
            </a:r>
            <a:r>
              <a:rPr lang="en-US" dirty="0" err="1"/>
              <a:t>db</a:t>
            </a:r>
            <a:r>
              <a:rPr lang="en-US" dirty="0"/>
              <a:t>)</a:t>
            </a:r>
          </a:p>
        </p:txBody>
      </p:sp>
      <p:sp>
        <p:nvSpPr>
          <p:cNvPr id="6" name="TextBox 5">
            <a:extLst>
              <a:ext uri="{FF2B5EF4-FFF2-40B4-BE49-F238E27FC236}">
                <a16:creationId xmlns:a16="http://schemas.microsoft.com/office/drawing/2014/main" id="{837D7C4A-166B-1400-B733-60EEA54D81B9}"/>
              </a:ext>
            </a:extLst>
          </p:cNvPr>
          <p:cNvSpPr txBox="1"/>
          <p:nvPr/>
        </p:nvSpPr>
        <p:spPr>
          <a:xfrm>
            <a:off x="1097280" y="2425760"/>
            <a:ext cx="2012089" cy="1200329"/>
          </a:xfrm>
          <a:prstGeom prst="rect">
            <a:avLst/>
          </a:prstGeom>
          <a:noFill/>
        </p:spPr>
        <p:txBody>
          <a:bodyPr wrap="none" rtlCol="0">
            <a:spAutoFit/>
          </a:bodyPr>
          <a:lstStyle/>
          <a:p>
            <a:r>
              <a:rPr lang="en-US" dirty="0"/>
              <a:t>Numerical: </a:t>
            </a:r>
          </a:p>
          <a:p>
            <a:pPr marL="285750" indent="-285750">
              <a:buFont typeface="Arial" panose="020B0604020202020204" pitchFamily="34" charset="0"/>
              <a:buChar char="•"/>
            </a:pPr>
            <a:r>
              <a:rPr lang="en-US" dirty="0" err="1"/>
              <a:t>work_order_id</a:t>
            </a:r>
            <a:endParaRPr lang="en-US" dirty="0"/>
          </a:p>
          <a:p>
            <a:pPr marL="285750" indent="-285750">
              <a:buFont typeface="Arial" panose="020B0604020202020204" pitchFamily="34" charset="0"/>
              <a:buChar char="•"/>
            </a:pPr>
            <a:r>
              <a:rPr lang="en-US" dirty="0" err="1"/>
              <a:t>resident_id</a:t>
            </a:r>
            <a:endParaRPr lang="en-US" dirty="0"/>
          </a:p>
          <a:p>
            <a:pPr marL="285750" indent="-285750">
              <a:buFont typeface="Arial" panose="020B0604020202020204" pitchFamily="34" charset="0"/>
              <a:buChar char="•"/>
            </a:pPr>
            <a:r>
              <a:rPr lang="en-US" dirty="0" err="1"/>
              <a:t>unit_number</a:t>
            </a:r>
            <a:endParaRPr lang="en-US" dirty="0"/>
          </a:p>
        </p:txBody>
      </p:sp>
      <p:sp>
        <p:nvSpPr>
          <p:cNvPr id="7" name="TextBox 6">
            <a:extLst>
              <a:ext uri="{FF2B5EF4-FFF2-40B4-BE49-F238E27FC236}">
                <a16:creationId xmlns:a16="http://schemas.microsoft.com/office/drawing/2014/main" id="{E9134C7B-91BD-8555-1CB9-9E5F6EBD8550}"/>
              </a:ext>
            </a:extLst>
          </p:cNvPr>
          <p:cNvSpPr txBox="1"/>
          <p:nvPr/>
        </p:nvSpPr>
        <p:spPr>
          <a:xfrm>
            <a:off x="5713345" y="2425760"/>
            <a:ext cx="3048687" cy="3416320"/>
          </a:xfrm>
          <a:prstGeom prst="rect">
            <a:avLst/>
          </a:prstGeom>
          <a:noFill/>
        </p:spPr>
        <p:txBody>
          <a:bodyPr wrap="square" rtlCol="0">
            <a:spAutoFit/>
          </a:bodyPr>
          <a:lstStyle/>
          <a:p>
            <a:r>
              <a:rPr lang="en-US" dirty="0"/>
              <a:t>Non-Numerical: </a:t>
            </a:r>
          </a:p>
          <a:p>
            <a:pPr marL="285750" indent="-285750">
              <a:buFont typeface="Arial" panose="020B0604020202020204" pitchFamily="34" charset="0"/>
              <a:buChar char="•"/>
            </a:pPr>
            <a:r>
              <a:rPr lang="en-US" dirty="0" err="1"/>
              <a:t>date_submitted</a:t>
            </a:r>
            <a:endParaRPr lang="en-US" dirty="0"/>
          </a:p>
          <a:p>
            <a:pPr marL="285750" indent="-285750">
              <a:buFont typeface="Arial" panose="020B0604020202020204" pitchFamily="34" charset="0"/>
              <a:buChar char="•"/>
            </a:pPr>
            <a:r>
              <a:rPr lang="en-US" dirty="0" err="1"/>
              <a:t>issue_type</a:t>
            </a:r>
            <a:endParaRPr lang="en-US" dirty="0"/>
          </a:p>
          <a:p>
            <a:pPr marL="285750" indent="-285750">
              <a:buFont typeface="Arial" panose="020B0604020202020204" pitchFamily="34" charset="0"/>
              <a:buChar char="•"/>
            </a:pPr>
            <a:r>
              <a:rPr lang="en-US" dirty="0" err="1"/>
              <a:t>issue_description</a:t>
            </a:r>
            <a:endParaRPr lang="en-US" dirty="0"/>
          </a:p>
          <a:p>
            <a:pPr marL="285750" indent="-285750">
              <a:buFont typeface="Arial" panose="020B0604020202020204" pitchFamily="34" charset="0"/>
              <a:buChar char="•"/>
            </a:pPr>
            <a:r>
              <a:rPr lang="en-US" dirty="0"/>
              <a:t>priority</a:t>
            </a:r>
          </a:p>
          <a:p>
            <a:pPr marL="285750" indent="-285750">
              <a:buFont typeface="Arial" panose="020B0604020202020204" pitchFamily="34" charset="0"/>
              <a:buChar char="•"/>
            </a:pPr>
            <a:r>
              <a:rPr lang="en-US" dirty="0"/>
              <a:t>status</a:t>
            </a:r>
          </a:p>
          <a:p>
            <a:pPr marL="285750" indent="-285750">
              <a:buFont typeface="Arial" panose="020B0604020202020204" pitchFamily="34" charset="0"/>
              <a:buChar char="•"/>
            </a:pPr>
            <a:r>
              <a:rPr lang="en-US" dirty="0" err="1"/>
              <a:t>assigned_to</a:t>
            </a:r>
            <a:endParaRPr lang="en-US" dirty="0"/>
          </a:p>
          <a:p>
            <a:pPr marL="285750" indent="-285750">
              <a:buFont typeface="Arial" panose="020B0604020202020204" pitchFamily="34" charset="0"/>
              <a:buChar char="•"/>
            </a:pPr>
            <a:r>
              <a:rPr lang="en-US" dirty="0" err="1"/>
              <a:t>target_completion</a:t>
            </a:r>
            <a:r>
              <a:rPr lang="en-US" dirty="0"/>
              <a:t> date</a:t>
            </a:r>
          </a:p>
          <a:p>
            <a:pPr marL="285750" indent="-285750">
              <a:buFont typeface="Arial" panose="020B0604020202020204" pitchFamily="34" charset="0"/>
              <a:buChar char="•"/>
            </a:pPr>
            <a:r>
              <a:rPr lang="en-US" dirty="0" err="1"/>
              <a:t>date_completed</a:t>
            </a:r>
            <a:endParaRPr lang="en-US" dirty="0"/>
          </a:p>
          <a:p>
            <a:pPr marL="285750" indent="-285750">
              <a:buFont typeface="Arial" panose="020B0604020202020204" pitchFamily="34" charset="0"/>
              <a:buChar char="•"/>
            </a:pPr>
            <a:r>
              <a:rPr lang="en-US" dirty="0" err="1"/>
              <a:t>materials_required</a:t>
            </a:r>
            <a:endParaRPr lang="en-US" dirty="0"/>
          </a:p>
          <a:p>
            <a:pPr marL="285750" indent="-285750">
              <a:buFont typeface="Arial" panose="020B0604020202020204" pitchFamily="34" charset="0"/>
              <a:buChar char="•"/>
            </a:pPr>
            <a:r>
              <a:rPr lang="en-US" dirty="0" err="1"/>
              <a:t>submission_method</a:t>
            </a:r>
            <a:endParaRPr lang="en-US" dirty="0"/>
          </a:p>
          <a:p>
            <a:pPr marL="285750" indent="-285750">
              <a:buFont typeface="Arial" panose="020B0604020202020204" pitchFamily="34" charset="0"/>
              <a:buChar char="•"/>
            </a:pPr>
            <a:r>
              <a:rPr lang="en-US" dirty="0"/>
              <a:t>notes</a:t>
            </a:r>
          </a:p>
        </p:txBody>
      </p:sp>
      <p:sp>
        <p:nvSpPr>
          <p:cNvPr id="3" name="Rectangle 2">
            <a:extLst>
              <a:ext uri="{FF2B5EF4-FFF2-40B4-BE49-F238E27FC236}">
                <a16:creationId xmlns:a16="http://schemas.microsoft.com/office/drawing/2014/main" id="{8E88811A-C38B-7A6F-AE91-2C990E27F6AD}"/>
              </a:ext>
            </a:extLst>
          </p:cNvPr>
          <p:cNvSpPr/>
          <p:nvPr/>
        </p:nvSpPr>
        <p:spPr>
          <a:xfrm>
            <a:off x="1422401" y="3031803"/>
            <a:ext cx="1686968" cy="575226"/>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4756E6F-0222-C1DB-DD83-0BE8B8B3143D}"/>
              </a:ext>
            </a:extLst>
          </p:cNvPr>
          <p:cNvSpPr txBox="1"/>
          <p:nvPr/>
        </p:nvSpPr>
        <p:spPr>
          <a:xfrm>
            <a:off x="3109369" y="3134750"/>
            <a:ext cx="1305165" cy="369332"/>
          </a:xfrm>
          <a:prstGeom prst="rect">
            <a:avLst/>
          </a:prstGeom>
          <a:noFill/>
        </p:spPr>
        <p:txBody>
          <a:bodyPr wrap="none" rtlCol="0">
            <a:spAutoFit/>
          </a:bodyPr>
          <a:lstStyle/>
          <a:p>
            <a:r>
              <a:rPr lang="en-US" dirty="0">
                <a:solidFill>
                  <a:srgbClr val="00B0F0"/>
                </a:solidFill>
              </a:rPr>
              <a:t>Identifiers</a:t>
            </a:r>
          </a:p>
        </p:txBody>
      </p:sp>
      <p:cxnSp>
        <p:nvCxnSpPr>
          <p:cNvPr id="13" name="Straight Connector 12">
            <a:extLst>
              <a:ext uri="{FF2B5EF4-FFF2-40B4-BE49-F238E27FC236}">
                <a16:creationId xmlns:a16="http://schemas.microsoft.com/office/drawing/2014/main" id="{5764A93C-7082-B5D5-E9E6-77C50ADAD6E3}"/>
              </a:ext>
            </a:extLst>
          </p:cNvPr>
          <p:cNvCxnSpPr/>
          <p:nvPr/>
        </p:nvCxnSpPr>
        <p:spPr>
          <a:xfrm flipH="1">
            <a:off x="6095999" y="3205017"/>
            <a:ext cx="1915206"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BF7720-A93E-0007-3AD8-5F73CB6BB62E}"/>
              </a:ext>
            </a:extLst>
          </p:cNvPr>
          <p:cNvCxnSpPr>
            <a:cxnSpLocks/>
          </p:cNvCxnSpPr>
          <p:nvPr/>
        </p:nvCxnSpPr>
        <p:spPr>
          <a:xfrm flipH="1">
            <a:off x="6095999" y="3459016"/>
            <a:ext cx="1915206"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89CBFF7-B1AB-643D-3072-2A8E884A08B4}"/>
              </a:ext>
            </a:extLst>
          </p:cNvPr>
          <p:cNvCxnSpPr/>
          <p:nvPr/>
        </p:nvCxnSpPr>
        <p:spPr>
          <a:xfrm flipH="1">
            <a:off x="6095999" y="5398652"/>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FF692E-826B-66D7-90DF-A26E38721311}"/>
              </a:ext>
            </a:extLst>
          </p:cNvPr>
          <p:cNvCxnSpPr/>
          <p:nvPr/>
        </p:nvCxnSpPr>
        <p:spPr>
          <a:xfrm flipH="1">
            <a:off x="6095999" y="5112325"/>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1526FFD-D5E5-FD06-43C1-9AEBDC26001D}"/>
              </a:ext>
            </a:extLst>
          </p:cNvPr>
          <p:cNvSpPr/>
          <p:nvPr/>
        </p:nvSpPr>
        <p:spPr>
          <a:xfrm>
            <a:off x="5991419" y="2729263"/>
            <a:ext cx="2124365" cy="331026"/>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0D520A3-AD52-D5C8-5A44-7943E832B2EB}"/>
              </a:ext>
            </a:extLst>
          </p:cNvPr>
          <p:cNvSpPr/>
          <p:nvPr/>
        </p:nvSpPr>
        <p:spPr>
          <a:xfrm>
            <a:off x="5969964" y="3822912"/>
            <a:ext cx="2124365" cy="324506"/>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E888FA3-39E9-3F85-E1CF-5C6E7A27C2AE}"/>
              </a:ext>
            </a:extLst>
          </p:cNvPr>
          <p:cNvSpPr txBox="1"/>
          <p:nvPr/>
        </p:nvSpPr>
        <p:spPr>
          <a:xfrm>
            <a:off x="8777829" y="2699025"/>
            <a:ext cx="2359941" cy="369332"/>
          </a:xfrm>
          <a:prstGeom prst="rect">
            <a:avLst/>
          </a:prstGeom>
          <a:noFill/>
        </p:spPr>
        <p:txBody>
          <a:bodyPr wrap="none" rtlCol="0">
            <a:spAutoFit/>
          </a:bodyPr>
          <a:lstStyle/>
          <a:p>
            <a:r>
              <a:rPr lang="en-US" dirty="0">
                <a:solidFill>
                  <a:srgbClr val="7030A0"/>
                </a:solidFill>
              </a:rPr>
              <a:t>Convert to </a:t>
            </a:r>
            <a:r>
              <a:rPr lang="en-US" dirty="0" err="1">
                <a:solidFill>
                  <a:srgbClr val="7030A0"/>
                </a:solidFill>
              </a:rPr>
              <a:t>numerics</a:t>
            </a:r>
            <a:endParaRPr lang="en-US" dirty="0">
              <a:solidFill>
                <a:srgbClr val="7030A0"/>
              </a:solidFill>
            </a:endParaRPr>
          </a:p>
        </p:txBody>
      </p:sp>
      <p:sp>
        <p:nvSpPr>
          <p:cNvPr id="20" name="TextBox 19">
            <a:extLst>
              <a:ext uri="{FF2B5EF4-FFF2-40B4-BE49-F238E27FC236}">
                <a16:creationId xmlns:a16="http://schemas.microsoft.com/office/drawing/2014/main" id="{25422AC6-9F5D-44BD-179D-D541275B34D2}"/>
              </a:ext>
            </a:extLst>
          </p:cNvPr>
          <p:cNvSpPr txBox="1"/>
          <p:nvPr/>
        </p:nvSpPr>
        <p:spPr>
          <a:xfrm>
            <a:off x="8777829" y="3773359"/>
            <a:ext cx="2576948" cy="369332"/>
          </a:xfrm>
          <a:prstGeom prst="rect">
            <a:avLst/>
          </a:prstGeom>
          <a:noFill/>
        </p:spPr>
        <p:txBody>
          <a:bodyPr wrap="square" rtlCol="0">
            <a:spAutoFit/>
          </a:bodyPr>
          <a:lstStyle/>
          <a:p>
            <a:r>
              <a:rPr lang="en-US" dirty="0">
                <a:solidFill>
                  <a:schemeClr val="accent3"/>
                </a:solidFill>
              </a:rPr>
              <a:t>Convert to binary </a:t>
            </a:r>
          </a:p>
        </p:txBody>
      </p:sp>
      <p:cxnSp>
        <p:nvCxnSpPr>
          <p:cNvPr id="10" name="Straight Connector 9">
            <a:extLst>
              <a:ext uri="{FF2B5EF4-FFF2-40B4-BE49-F238E27FC236}">
                <a16:creationId xmlns:a16="http://schemas.microsoft.com/office/drawing/2014/main" id="{4500F911-95B4-6F08-EC21-15408A1B0936}"/>
              </a:ext>
            </a:extLst>
          </p:cNvPr>
          <p:cNvCxnSpPr/>
          <p:nvPr/>
        </p:nvCxnSpPr>
        <p:spPr>
          <a:xfrm flipH="1">
            <a:off x="1422401" y="2909454"/>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3724379-1E54-E4E4-EB91-B0BF20EA4DB3}"/>
              </a:ext>
            </a:extLst>
          </p:cNvPr>
          <p:cNvCxnSpPr>
            <a:cxnSpLocks/>
          </p:cNvCxnSpPr>
          <p:nvPr/>
        </p:nvCxnSpPr>
        <p:spPr>
          <a:xfrm flipH="1">
            <a:off x="6095999" y="3736107"/>
            <a:ext cx="1915206"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396ECA3-635A-8F8C-B722-9227A5772C91}"/>
              </a:ext>
            </a:extLst>
          </p:cNvPr>
          <p:cNvSpPr txBox="1"/>
          <p:nvPr/>
        </p:nvSpPr>
        <p:spPr>
          <a:xfrm>
            <a:off x="8702314" y="2979619"/>
            <a:ext cx="2717058" cy="830997"/>
          </a:xfrm>
          <a:prstGeom prst="rect">
            <a:avLst/>
          </a:prstGeom>
          <a:noFill/>
        </p:spPr>
        <p:txBody>
          <a:bodyPr wrap="square" rtlCol="0">
            <a:spAutoFit/>
          </a:bodyPr>
          <a:lstStyle/>
          <a:p>
            <a:r>
              <a:rPr lang="en-US" sz="1200" dirty="0">
                <a:solidFill>
                  <a:srgbClr val="FF0000"/>
                </a:solidFill>
              </a:rPr>
              <a:t>Issue type might be important, description and priority indicates severity of problem, but this might require far more data than we have</a:t>
            </a:r>
          </a:p>
        </p:txBody>
      </p:sp>
      <p:sp>
        <p:nvSpPr>
          <p:cNvPr id="28" name="Rectangle 27">
            <a:extLst>
              <a:ext uri="{FF2B5EF4-FFF2-40B4-BE49-F238E27FC236}">
                <a16:creationId xmlns:a16="http://schemas.microsoft.com/office/drawing/2014/main" id="{46E6D5AD-67AC-C57C-262B-7CF92676AC79}"/>
              </a:ext>
            </a:extLst>
          </p:cNvPr>
          <p:cNvSpPr/>
          <p:nvPr/>
        </p:nvSpPr>
        <p:spPr>
          <a:xfrm>
            <a:off x="5966984" y="4382051"/>
            <a:ext cx="2696725" cy="570205"/>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DB647EFF-F8F6-796E-0ED3-4F2B62BD81D6}"/>
              </a:ext>
            </a:extLst>
          </p:cNvPr>
          <p:cNvCxnSpPr/>
          <p:nvPr/>
        </p:nvCxnSpPr>
        <p:spPr>
          <a:xfrm flipH="1">
            <a:off x="6095999" y="5674149"/>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A4C468-7D31-7384-55BB-6E961F171471}"/>
              </a:ext>
            </a:extLst>
          </p:cNvPr>
          <p:cNvCxnSpPr>
            <a:cxnSpLocks/>
          </p:cNvCxnSpPr>
          <p:nvPr/>
        </p:nvCxnSpPr>
        <p:spPr>
          <a:xfrm flipH="1">
            <a:off x="6095999" y="4290288"/>
            <a:ext cx="1915206"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AAAF5DB-C1E6-AB53-3D62-33C6F44142A6}"/>
              </a:ext>
            </a:extLst>
          </p:cNvPr>
          <p:cNvSpPr txBox="1"/>
          <p:nvPr/>
        </p:nvSpPr>
        <p:spPr>
          <a:xfrm>
            <a:off x="8777829" y="4496228"/>
            <a:ext cx="2861681" cy="369332"/>
          </a:xfrm>
          <a:prstGeom prst="rect">
            <a:avLst/>
          </a:prstGeom>
          <a:noFill/>
        </p:spPr>
        <p:txBody>
          <a:bodyPr wrap="none" rtlCol="0">
            <a:spAutoFit/>
          </a:bodyPr>
          <a:lstStyle/>
          <a:p>
            <a:r>
              <a:rPr lang="en-US" dirty="0">
                <a:solidFill>
                  <a:srgbClr val="7030A0"/>
                </a:solidFill>
              </a:rPr>
              <a:t>Completed dates missing</a:t>
            </a:r>
          </a:p>
        </p:txBody>
      </p:sp>
      <p:sp>
        <p:nvSpPr>
          <p:cNvPr id="32" name="TextBox 31">
            <a:extLst>
              <a:ext uri="{FF2B5EF4-FFF2-40B4-BE49-F238E27FC236}">
                <a16:creationId xmlns:a16="http://schemas.microsoft.com/office/drawing/2014/main" id="{B153FDA7-42B1-3112-7821-ABAB19D39C2F}"/>
              </a:ext>
            </a:extLst>
          </p:cNvPr>
          <p:cNvSpPr txBox="1"/>
          <p:nvPr/>
        </p:nvSpPr>
        <p:spPr>
          <a:xfrm>
            <a:off x="8519745" y="5550226"/>
            <a:ext cx="3377848" cy="369332"/>
          </a:xfrm>
          <a:prstGeom prst="rect">
            <a:avLst/>
          </a:prstGeom>
          <a:noFill/>
        </p:spPr>
        <p:txBody>
          <a:bodyPr wrap="none" rtlCol="0">
            <a:spAutoFit/>
          </a:bodyPr>
          <a:lstStyle/>
          <a:p>
            <a:r>
              <a:rPr lang="en-US" dirty="0"/>
              <a:t>Many repeats to be dealt with</a:t>
            </a:r>
          </a:p>
        </p:txBody>
      </p:sp>
    </p:spTree>
    <p:extLst>
      <p:ext uri="{BB962C8B-B14F-4D97-AF65-F5344CB8AC3E}">
        <p14:creationId xmlns:p14="http://schemas.microsoft.com/office/powerpoint/2010/main" val="796995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C663-983C-C0FC-43C0-B37A56995515}"/>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2FB6F010-40ED-A5EF-175C-18790CCBE0D9}"/>
              </a:ext>
            </a:extLst>
          </p:cNvPr>
          <p:cNvSpPr>
            <a:spLocks noGrp="1"/>
          </p:cNvSpPr>
          <p:nvPr>
            <p:ph type="sldNum" sz="quarter" idx="12"/>
          </p:nvPr>
        </p:nvSpPr>
        <p:spPr/>
        <p:txBody>
          <a:bodyPr/>
          <a:lstStyle/>
          <a:p>
            <a:fld id="{DCC1F92A-C6D8-4423-A6E5-606ADED483CD}" type="slidenum">
              <a:rPr lang="en-US" smtClean="0"/>
              <a:t>7</a:t>
            </a:fld>
            <a:endParaRPr lang="en-US"/>
          </a:p>
        </p:txBody>
      </p:sp>
      <p:sp>
        <p:nvSpPr>
          <p:cNvPr id="5" name="TextBox 4">
            <a:extLst>
              <a:ext uri="{FF2B5EF4-FFF2-40B4-BE49-F238E27FC236}">
                <a16:creationId xmlns:a16="http://schemas.microsoft.com/office/drawing/2014/main" id="{E71FD4E0-33DC-8750-A4CF-6FB5586F0CF5}"/>
              </a:ext>
            </a:extLst>
          </p:cNvPr>
          <p:cNvSpPr txBox="1"/>
          <p:nvPr/>
        </p:nvSpPr>
        <p:spPr>
          <a:xfrm>
            <a:off x="5000988" y="1896894"/>
            <a:ext cx="1800493" cy="369332"/>
          </a:xfrm>
          <a:prstGeom prst="rect">
            <a:avLst/>
          </a:prstGeom>
          <a:noFill/>
        </p:spPr>
        <p:txBody>
          <a:bodyPr wrap="none" rtlCol="0">
            <a:spAutoFit/>
          </a:bodyPr>
          <a:lstStyle/>
          <a:p>
            <a:r>
              <a:rPr lang="en-US" dirty="0"/>
              <a:t>File: offers (</a:t>
            </a:r>
            <a:r>
              <a:rPr lang="en-US" dirty="0" err="1"/>
              <a:t>db</a:t>
            </a:r>
            <a:r>
              <a:rPr lang="en-US" dirty="0"/>
              <a:t>)</a:t>
            </a:r>
          </a:p>
        </p:txBody>
      </p:sp>
      <p:sp>
        <p:nvSpPr>
          <p:cNvPr id="6" name="TextBox 5">
            <a:extLst>
              <a:ext uri="{FF2B5EF4-FFF2-40B4-BE49-F238E27FC236}">
                <a16:creationId xmlns:a16="http://schemas.microsoft.com/office/drawing/2014/main" id="{837D7C4A-166B-1400-B733-60EEA54D81B9}"/>
              </a:ext>
            </a:extLst>
          </p:cNvPr>
          <p:cNvSpPr txBox="1"/>
          <p:nvPr/>
        </p:nvSpPr>
        <p:spPr>
          <a:xfrm>
            <a:off x="1097280" y="2425760"/>
            <a:ext cx="2302233" cy="1200329"/>
          </a:xfrm>
          <a:prstGeom prst="rect">
            <a:avLst/>
          </a:prstGeom>
          <a:noFill/>
        </p:spPr>
        <p:txBody>
          <a:bodyPr wrap="none" rtlCol="0">
            <a:spAutoFit/>
          </a:bodyPr>
          <a:lstStyle/>
          <a:p>
            <a:r>
              <a:rPr lang="en-US" dirty="0"/>
              <a:t>Numerical: </a:t>
            </a:r>
          </a:p>
          <a:p>
            <a:pPr marL="285750" indent="-285750">
              <a:buFont typeface="Arial" panose="020B0604020202020204" pitchFamily="34" charset="0"/>
              <a:buChar char="•"/>
            </a:pPr>
            <a:r>
              <a:rPr lang="en-US" dirty="0"/>
              <a:t>unit</a:t>
            </a:r>
          </a:p>
          <a:p>
            <a:pPr marL="285750" indent="-285750">
              <a:buFont typeface="Arial" panose="020B0604020202020204" pitchFamily="34" charset="0"/>
              <a:buChar char="•"/>
            </a:pPr>
            <a:r>
              <a:rPr lang="en-US" dirty="0"/>
              <a:t>rent</a:t>
            </a:r>
          </a:p>
          <a:p>
            <a:pPr marL="285750" indent="-285750">
              <a:buFont typeface="Arial" panose="020B0604020202020204" pitchFamily="34" charset="0"/>
              <a:buChar char="•"/>
            </a:pPr>
            <a:r>
              <a:rPr lang="en-US" dirty="0" err="1"/>
              <a:t>renewal_decision</a:t>
            </a:r>
            <a:endParaRPr lang="en-US" dirty="0"/>
          </a:p>
        </p:txBody>
      </p:sp>
      <p:sp>
        <p:nvSpPr>
          <p:cNvPr id="7" name="TextBox 6">
            <a:extLst>
              <a:ext uri="{FF2B5EF4-FFF2-40B4-BE49-F238E27FC236}">
                <a16:creationId xmlns:a16="http://schemas.microsoft.com/office/drawing/2014/main" id="{E9134C7B-91BD-8555-1CB9-9E5F6EBD8550}"/>
              </a:ext>
            </a:extLst>
          </p:cNvPr>
          <p:cNvSpPr txBox="1"/>
          <p:nvPr/>
        </p:nvSpPr>
        <p:spPr>
          <a:xfrm>
            <a:off x="5713345" y="2425760"/>
            <a:ext cx="3048687" cy="923330"/>
          </a:xfrm>
          <a:prstGeom prst="rect">
            <a:avLst/>
          </a:prstGeom>
          <a:noFill/>
        </p:spPr>
        <p:txBody>
          <a:bodyPr wrap="square" rtlCol="0">
            <a:spAutoFit/>
          </a:bodyPr>
          <a:lstStyle/>
          <a:p>
            <a:r>
              <a:rPr lang="en-US" dirty="0"/>
              <a:t>Non-Numerical: </a:t>
            </a:r>
          </a:p>
          <a:p>
            <a:pPr marL="285750" indent="-285750">
              <a:buFont typeface="Arial" panose="020B0604020202020204" pitchFamily="34" charset="0"/>
              <a:buChar char="•"/>
            </a:pPr>
            <a:r>
              <a:rPr lang="en-US" dirty="0" err="1"/>
              <a:t>date_sent</a:t>
            </a:r>
            <a:endParaRPr lang="en-US" dirty="0"/>
          </a:p>
          <a:p>
            <a:pPr marL="285750" indent="-285750">
              <a:buFont typeface="Arial" panose="020B0604020202020204" pitchFamily="34" charset="0"/>
              <a:buChar char="•"/>
            </a:pPr>
            <a:r>
              <a:rPr lang="en-US" dirty="0" err="1"/>
              <a:t>sent_by</a:t>
            </a:r>
            <a:endParaRPr lang="en-US" dirty="0"/>
          </a:p>
        </p:txBody>
      </p:sp>
      <p:sp>
        <p:nvSpPr>
          <p:cNvPr id="3" name="Rectangle 2">
            <a:extLst>
              <a:ext uri="{FF2B5EF4-FFF2-40B4-BE49-F238E27FC236}">
                <a16:creationId xmlns:a16="http://schemas.microsoft.com/office/drawing/2014/main" id="{8E88811A-C38B-7A6F-AE91-2C990E27F6AD}"/>
              </a:ext>
            </a:extLst>
          </p:cNvPr>
          <p:cNvSpPr/>
          <p:nvPr/>
        </p:nvSpPr>
        <p:spPr>
          <a:xfrm>
            <a:off x="1422401" y="2744190"/>
            <a:ext cx="1915206" cy="316099"/>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4756E6F-0222-C1DB-DD83-0BE8B8B3143D}"/>
              </a:ext>
            </a:extLst>
          </p:cNvPr>
          <p:cNvSpPr txBox="1"/>
          <p:nvPr/>
        </p:nvSpPr>
        <p:spPr>
          <a:xfrm>
            <a:off x="3399513" y="2699025"/>
            <a:ext cx="1305165" cy="369332"/>
          </a:xfrm>
          <a:prstGeom prst="rect">
            <a:avLst/>
          </a:prstGeom>
          <a:noFill/>
        </p:spPr>
        <p:txBody>
          <a:bodyPr wrap="none" rtlCol="0">
            <a:spAutoFit/>
          </a:bodyPr>
          <a:lstStyle/>
          <a:p>
            <a:r>
              <a:rPr lang="en-US" dirty="0">
                <a:solidFill>
                  <a:srgbClr val="00B0F0"/>
                </a:solidFill>
              </a:rPr>
              <a:t>Identifiers</a:t>
            </a:r>
          </a:p>
        </p:txBody>
      </p:sp>
      <p:cxnSp>
        <p:nvCxnSpPr>
          <p:cNvPr id="16" name="Straight Connector 15">
            <a:extLst>
              <a:ext uri="{FF2B5EF4-FFF2-40B4-BE49-F238E27FC236}">
                <a16:creationId xmlns:a16="http://schemas.microsoft.com/office/drawing/2014/main" id="{D3FF692E-826B-66D7-90DF-A26E38721311}"/>
              </a:ext>
            </a:extLst>
          </p:cNvPr>
          <p:cNvCxnSpPr/>
          <p:nvPr/>
        </p:nvCxnSpPr>
        <p:spPr>
          <a:xfrm flipH="1">
            <a:off x="6095999" y="3179083"/>
            <a:ext cx="19152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1526FFD-D5E5-FD06-43C1-9AEBDC26001D}"/>
              </a:ext>
            </a:extLst>
          </p:cNvPr>
          <p:cNvSpPr/>
          <p:nvPr/>
        </p:nvSpPr>
        <p:spPr>
          <a:xfrm>
            <a:off x="5991419" y="2729263"/>
            <a:ext cx="2124365" cy="331026"/>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E888FA3-39E9-3F85-E1CF-5C6E7A27C2AE}"/>
              </a:ext>
            </a:extLst>
          </p:cNvPr>
          <p:cNvSpPr txBox="1"/>
          <p:nvPr/>
        </p:nvSpPr>
        <p:spPr>
          <a:xfrm>
            <a:off x="8115784" y="2699025"/>
            <a:ext cx="2359941" cy="369332"/>
          </a:xfrm>
          <a:prstGeom prst="rect">
            <a:avLst/>
          </a:prstGeom>
          <a:noFill/>
        </p:spPr>
        <p:txBody>
          <a:bodyPr wrap="none" rtlCol="0">
            <a:spAutoFit/>
          </a:bodyPr>
          <a:lstStyle/>
          <a:p>
            <a:r>
              <a:rPr lang="en-US" dirty="0">
                <a:solidFill>
                  <a:srgbClr val="7030A0"/>
                </a:solidFill>
              </a:rPr>
              <a:t>Convert to </a:t>
            </a:r>
            <a:r>
              <a:rPr lang="en-US" dirty="0" err="1">
                <a:solidFill>
                  <a:srgbClr val="7030A0"/>
                </a:solidFill>
              </a:rPr>
              <a:t>numerics</a:t>
            </a:r>
            <a:endParaRPr lang="en-US" dirty="0">
              <a:solidFill>
                <a:srgbClr val="7030A0"/>
              </a:solidFill>
            </a:endParaRPr>
          </a:p>
        </p:txBody>
      </p:sp>
      <p:sp>
        <p:nvSpPr>
          <p:cNvPr id="8" name="Rectangle 7">
            <a:extLst>
              <a:ext uri="{FF2B5EF4-FFF2-40B4-BE49-F238E27FC236}">
                <a16:creationId xmlns:a16="http://schemas.microsoft.com/office/drawing/2014/main" id="{E6B72CB4-7129-3A0D-2A7F-F9EEB851287C}"/>
              </a:ext>
            </a:extLst>
          </p:cNvPr>
          <p:cNvSpPr/>
          <p:nvPr/>
        </p:nvSpPr>
        <p:spPr>
          <a:xfrm>
            <a:off x="1415384" y="3305536"/>
            <a:ext cx="1915206" cy="316099"/>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268F9E3-7F99-2295-DAA4-47FC9E6C822D}"/>
              </a:ext>
            </a:extLst>
          </p:cNvPr>
          <p:cNvSpPr txBox="1"/>
          <p:nvPr/>
        </p:nvSpPr>
        <p:spPr>
          <a:xfrm>
            <a:off x="3399513" y="3305536"/>
            <a:ext cx="898003" cy="369332"/>
          </a:xfrm>
          <a:prstGeom prst="rect">
            <a:avLst/>
          </a:prstGeom>
          <a:noFill/>
        </p:spPr>
        <p:txBody>
          <a:bodyPr wrap="none" rtlCol="0">
            <a:spAutoFit/>
          </a:bodyPr>
          <a:lstStyle/>
          <a:p>
            <a:r>
              <a:rPr lang="en-US" dirty="0">
                <a:solidFill>
                  <a:srgbClr val="0070C0"/>
                </a:solidFill>
              </a:rPr>
              <a:t>Target</a:t>
            </a:r>
          </a:p>
        </p:txBody>
      </p:sp>
      <p:sp>
        <p:nvSpPr>
          <p:cNvPr id="22" name="TextBox 21">
            <a:extLst>
              <a:ext uri="{FF2B5EF4-FFF2-40B4-BE49-F238E27FC236}">
                <a16:creationId xmlns:a16="http://schemas.microsoft.com/office/drawing/2014/main" id="{C99675D7-3787-A9AE-77B5-87F513531847}"/>
              </a:ext>
            </a:extLst>
          </p:cNvPr>
          <p:cNvSpPr txBox="1"/>
          <p:nvPr/>
        </p:nvSpPr>
        <p:spPr>
          <a:xfrm>
            <a:off x="7053601" y="4302406"/>
            <a:ext cx="3864734" cy="923330"/>
          </a:xfrm>
          <a:prstGeom prst="rect">
            <a:avLst/>
          </a:prstGeom>
          <a:noFill/>
        </p:spPr>
        <p:txBody>
          <a:bodyPr wrap="square" rtlCol="0">
            <a:spAutoFit/>
          </a:bodyPr>
          <a:lstStyle/>
          <a:p>
            <a:r>
              <a:rPr lang="en-US" dirty="0"/>
              <a:t>Renewals are done by unit, not resident so there are repeats for units with multiple people</a:t>
            </a:r>
          </a:p>
        </p:txBody>
      </p:sp>
    </p:spTree>
    <p:extLst>
      <p:ext uri="{BB962C8B-B14F-4D97-AF65-F5344CB8AC3E}">
        <p14:creationId xmlns:p14="http://schemas.microsoft.com/office/powerpoint/2010/main" val="338273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C663-983C-C0FC-43C0-B37A56995515}"/>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2FB6F010-40ED-A5EF-175C-18790CCBE0D9}"/>
              </a:ext>
            </a:extLst>
          </p:cNvPr>
          <p:cNvSpPr>
            <a:spLocks noGrp="1"/>
          </p:cNvSpPr>
          <p:nvPr>
            <p:ph type="sldNum" sz="quarter" idx="12"/>
          </p:nvPr>
        </p:nvSpPr>
        <p:spPr/>
        <p:txBody>
          <a:bodyPr/>
          <a:lstStyle/>
          <a:p>
            <a:fld id="{DCC1F92A-C6D8-4423-A6E5-606ADED483CD}" type="slidenum">
              <a:rPr lang="en-US" smtClean="0"/>
              <a:t>8</a:t>
            </a:fld>
            <a:endParaRPr lang="en-US"/>
          </a:p>
        </p:txBody>
      </p:sp>
      <p:sp>
        <p:nvSpPr>
          <p:cNvPr id="5" name="TextBox 4">
            <a:extLst>
              <a:ext uri="{FF2B5EF4-FFF2-40B4-BE49-F238E27FC236}">
                <a16:creationId xmlns:a16="http://schemas.microsoft.com/office/drawing/2014/main" id="{E71FD4E0-33DC-8750-A4CF-6FB5586F0CF5}"/>
              </a:ext>
            </a:extLst>
          </p:cNvPr>
          <p:cNvSpPr txBox="1"/>
          <p:nvPr/>
        </p:nvSpPr>
        <p:spPr>
          <a:xfrm>
            <a:off x="5000988" y="1896894"/>
            <a:ext cx="2839239" cy="369332"/>
          </a:xfrm>
          <a:prstGeom prst="rect">
            <a:avLst/>
          </a:prstGeom>
          <a:noFill/>
        </p:spPr>
        <p:txBody>
          <a:bodyPr wrap="none" rtlCol="0">
            <a:spAutoFit/>
          </a:bodyPr>
          <a:lstStyle/>
          <a:p>
            <a:r>
              <a:rPr lang="en-US" dirty="0"/>
              <a:t>File: conversations (</a:t>
            </a:r>
            <a:r>
              <a:rPr lang="en-US" dirty="0" err="1"/>
              <a:t>json</a:t>
            </a:r>
            <a:r>
              <a:rPr lang="en-US" dirty="0"/>
              <a:t>)</a:t>
            </a:r>
          </a:p>
        </p:txBody>
      </p:sp>
      <p:sp>
        <p:nvSpPr>
          <p:cNvPr id="6" name="TextBox 5">
            <a:extLst>
              <a:ext uri="{FF2B5EF4-FFF2-40B4-BE49-F238E27FC236}">
                <a16:creationId xmlns:a16="http://schemas.microsoft.com/office/drawing/2014/main" id="{837D7C4A-166B-1400-B733-60EEA54D81B9}"/>
              </a:ext>
            </a:extLst>
          </p:cNvPr>
          <p:cNvSpPr txBox="1"/>
          <p:nvPr/>
        </p:nvSpPr>
        <p:spPr>
          <a:xfrm>
            <a:off x="1097280" y="2425760"/>
            <a:ext cx="1670650" cy="923330"/>
          </a:xfrm>
          <a:prstGeom prst="rect">
            <a:avLst/>
          </a:prstGeom>
          <a:noFill/>
        </p:spPr>
        <p:txBody>
          <a:bodyPr wrap="none" rtlCol="0">
            <a:spAutoFit/>
          </a:bodyPr>
          <a:lstStyle/>
          <a:p>
            <a:r>
              <a:rPr lang="en-US" dirty="0"/>
              <a:t>Numerical: </a:t>
            </a:r>
          </a:p>
          <a:p>
            <a:pPr marL="285750" indent="-285750">
              <a:buFont typeface="Arial" panose="020B0604020202020204" pitchFamily="34" charset="0"/>
              <a:buChar char="•"/>
            </a:pPr>
            <a:r>
              <a:rPr lang="en-US" dirty="0" err="1"/>
              <a:t>resident_id</a:t>
            </a:r>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E9134C7B-91BD-8555-1CB9-9E5F6EBD8550}"/>
              </a:ext>
            </a:extLst>
          </p:cNvPr>
          <p:cNvSpPr txBox="1"/>
          <p:nvPr/>
        </p:nvSpPr>
        <p:spPr>
          <a:xfrm>
            <a:off x="5713345" y="2425760"/>
            <a:ext cx="3048687" cy="646331"/>
          </a:xfrm>
          <a:prstGeom prst="rect">
            <a:avLst/>
          </a:prstGeom>
          <a:noFill/>
        </p:spPr>
        <p:txBody>
          <a:bodyPr wrap="square" rtlCol="0">
            <a:spAutoFit/>
          </a:bodyPr>
          <a:lstStyle/>
          <a:p>
            <a:r>
              <a:rPr lang="en-US" dirty="0"/>
              <a:t>Non-Numerical: </a:t>
            </a:r>
          </a:p>
          <a:p>
            <a:pPr marL="285750" indent="-285750">
              <a:buFont typeface="Arial" panose="020B0604020202020204" pitchFamily="34" charset="0"/>
              <a:buChar char="•"/>
            </a:pPr>
            <a:r>
              <a:rPr lang="en-US" dirty="0"/>
              <a:t>conversations</a:t>
            </a:r>
          </a:p>
        </p:txBody>
      </p:sp>
      <p:sp>
        <p:nvSpPr>
          <p:cNvPr id="3" name="Rectangle 2">
            <a:extLst>
              <a:ext uri="{FF2B5EF4-FFF2-40B4-BE49-F238E27FC236}">
                <a16:creationId xmlns:a16="http://schemas.microsoft.com/office/drawing/2014/main" id="{8E88811A-C38B-7A6F-AE91-2C990E27F6AD}"/>
              </a:ext>
            </a:extLst>
          </p:cNvPr>
          <p:cNvSpPr/>
          <p:nvPr/>
        </p:nvSpPr>
        <p:spPr>
          <a:xfrm>
            <a:off x="1422401" y="2744190"/>
            <a:ext cx="1915206" cy="316099"/>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4756E6F-0222-C1DB-DD83-0BE8B8B3143D}"/>
              </a:ext>
            </a:extLst>
          </p:cNvPr>
          <p:cNvSpPr txBox="1"/>
          <p:nvPr/>
        </p:nvSpPr>
        <p:spPr>
          <a:xfrm>
            <a:off x="3399513" y="2699025"/>
            <a:ext cx="1305165" cy="369332"/>
          </a:xfrm>
          <a:prstGeom prst="rect">
            <a:avLst/>
          </a:prstGeom>
          <a:noFill/>
        </p:spPr>
        <p:txBody>
          <a:bodyPr wrap="none" rtlCol="0">
            <a:spAutoFit/>
          </a:bodyPr>
          <a:lstStyle/>
          <a:p>
            <a:r>
              <a:rPr lang="en-US" dirty="0">
                <a:solidFill>
                  <a:srgbClr val="00B0F0"/>
                </a:solidFill>
              </a:rPr>
              <a:t>Identifiers</a:t>
            </a:r>
          </a:p>
        </p:txBody>
      </p:sp>
      <p:sp>
        <p:nvSpPr>
          <p:cNvPr id="10" name="Rectangle 9">
            <a:extLst>
              <a:ext uri="{FF2B5EF4-FFF2-40B4-BE49-F238E27FC236}">
                <a16:creationId xmlns:a16="http://schemas.microsoft.com/office/drawing/2014/main" id="{75DCB270-AF95-0C6D-72C2-2B208558969D}"/>
              </a:ext>
            </a:extLst>
          </p:cNvPr>
          <p:cNvSpPr/>
          <p:nvPr/>
        </p:nvSpPr>
        <p:spPr>
          <a:xfrm>
            <a:off x="5926765" y="2744190"/>
            <a:ext cx="2124365" cy="262786"/>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7541BEA-D9C5-EC68-618F-C5C259050A6A}"/>
              </a:ext>
            </a:extLst>
          </p:cNvPr>
          <p:cNvSpPr txBox="1"/>
          <p:nvPr/>
        </p:nvSpPr>
        <p:spPr>
          <a:xfrm>
            <a:off x="8161965" y="2397512"/>
            <a:ext cx="2607634" cy="1754326"/>
          </a:xfrm>
          <a:prstGeom prst="rect">
            <a:avLst/>
          </a:prstGeom>
          <a:noFill/>
        </p:spPr>
        <p:txBody>
          <a:bodyPr wrap="square" rtlCol="0">
            <a:spAutoFit/>
          </a:bodyPr>
          <a:lstStyle/>
          <a:p>
            <a:r>
              <a:rPr lang="en-US" dirty="0">
                <a:solidFill>
                  <a:srgbClr val="FFC000"/>
                </a:solidFill>
              </a:rPr>
              <a:t>Integer Embedding </a:t>
            </a:r>
          </a:p>
          <a:p>
            <a:r>
              <a:rPr lang="en-US" dirty="0">
                <a:solidFill>
                  <a:srgbClr val="FFC000"/>
                </a:solidFill>
              </a:rPr>
              <a:t>(lose content of messages, retain number of messages)</a:t>
            </a:r>
          </a:p>
          <a:p>
            <a:r>
              <a:rPr lang="en-US" dirty="0">
                <a:solidFill>
                  <a:srgbClr val="FFC000"/>
                </a:solidFill>
              </a:rPr>
              <a:t>Missing conversations given 0.</a:t>
            </a:r>
          </a:p>
        </p:txBody>
      </p:sp>
    </p:spTree>
    <p:extLst>
      <p:ext uri="{BB962C8B-B14F-4D97-AF65-F5344CB8AC3E}">
        <p14:creationId xmlns:p14="http://schemas.microsoft.com/office/powerpoint/2010/main" val="110523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B56D0-4ACC-5225-4FDC-9D4A6E6C66AF}"/>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D932676D-4313-C734-D9EA-0912929170F5}"/>
              </a:ext>
            </a:extLst>
          </p:cNvPr>
          <p:cNvSpPr>
            <a:spLocks noGrp="1"/>
          </p:cNvSpPr>
          <p:nvPr>
            <p:ph type="sldNum" sz="quarter" idx="12"/>
          </p:nvPr>
        </p:nvSpPr>
        <p:spPr/>
        <p:txBody>
          <a:bodyPr/>
          <a:lstStyle/>
          <a:p>
            <a:fld id="{DCC1F92A-C6D8-4423-A6E5-606ADED483CD}" type="slidenum">
              <a:rPr lang="en-US" smtClean="0"/>
              <a:t>9</a:t>
            </a:fld>
            <a:endParaRPr lang="en-US"/>
          </a:p>
        </p:txBody>
      </p:sp>
      <p:sp>
        <p:nvSpPr>
          <p:cNvPr id="5" name="TextBox 4">
            <a:extLst>
              <a:ext uri="{FF2B5EF4-FFF2-40B4-BE49-F238E27FC236}">
                <a16:creationId xmlns:a16="http://schemas.microsoft.com/office/drawing/2014/main" id="{F3B57D00-6564-FEF1-1DD2-02EAC9D5ED5D}"/>
              </a:ext>
            </a:extLst>
          </p:cNvPr>
          <p:cNvSpPr txBox="1"/>
          <p:nvPr/>
        </p:nvSpPr>
        <p:spPr>
          <a:xfrm>
            <a:off x="5015346" y="1848196"/>
            <a:ext cx="1685077" cy="369332"/>
          </a:xfrm>
          <a:prstGeom prst="rect">
            <a:avLst/>
          </a:prstGeom>
          <a:noFill/>
        </p:spPr>
        <p:txBody>
          <a:bodyPr wrap="none" rtlCol="0">
            <a:spAutoFit/>
          </a:bodyPr>
          <a:lstStyle/>
          <a:p>
            <a:r>
              <a:rPr lang="en-US" dirty="0"/>
              <a:t>New Features</a:t>
            </a:r>
          </a:p>
        </p:txBody>
      </p:sp>
      <p:sp>
        <p:nvSpPr>
          <p:cNvPr id="6" name="TextBox 5">
            <a:extLst>
              <a:ext uri="{FF2B5EF4-FFF2-40B4-BE49-F238E27FC236}">
                <a16:creationId xmlns:a16="http://schemas.microsoft.com/office/drawing/2014/main" id="{897EB750-C270-7A7A-3441-CA995C7CBB84}"/>
              </a:ext>
            </a:extLst>
          </p:cNvPr>
          <p:cNvSpPr txBox="1"/>
          <p:nvPr/>
        </p:nvSpPr>
        <p:spPr>
          <a:xfrm>
            <a:off x="424873" y="2328364"/>
            <a:ext cx="5497018"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err="1"/>
              <a:t>completion_time</a:t>
            </a:r>
            <a:r>
              <a:rPr lang="en-US" sz="1400" dirty="0"/>
              <a:t> = </a:t>
            </a:r>
            <a:r>
              <a:rPr lang="en-US" sz="1400" dirty="0" err="1"/>
              <a:t>target_completion_date</a:t>
            </a:r>
            <a:r>
              <a:rPr lang="en-US" sz="1400" dirty="0"/>
              <a:t> – </a:t>
            </a:r>
            <a:r>
              <a:rPr lang="en-US" sz="1400" dirty="0" err="1"/>
              <a:t>date_submitted</a:t>
            </a:r>
            <a:endParaRPr lang="en-US" sz="1400" dirty="0"/>
          </a:p>
          <a:p>
            <a:pPr marL="285750" indent="-285750">
              <a:buFont typeface="Arial" panose="020B0604020202020204" pitchFamily="34" charset="0"/>
              <a:buChar char="•"/>
            </a:pPr>
            <a:r>
              <a:rPr lang="en-US" sz="1400" dirty="0" err="1"/>
              <a:t>completion_diff</a:t>
            </a:r>
            <a:r>
              <a:rPr lang="en-US" sz="1400" dirty="0"/>
              <a:t> = </a:t>
            </a:r>
            <a:r>
              <a:rPr lang="en-US" sz="1400" dirty="0" err="1"/>
              <a:t>target_completion_date</a:t>
            </a:r>
            <a:r>
              <a:rPr lang="en-US" sz="1400" dirty="0"/>
              <a:t> – </a:t>
            </a:r>
            <a:r>
              <a:rPr lang="en-US" sz="1400" dirty="0" err="1"/>
              <a:t>date_completed</a:t>
            </a:r>
            <a:endParaRPr lang="en-US" sz="1400" dirty="0"/>
          </a:p>
          <a:p>
            <a:pPr marL="285750" indent="-285750">
              <a:buFont typeface="Arial" panose="020B0604020202020204" pitchFamily="34" charset="0"/>
              <a:buChar char="•"/>
            </a:pPr>
            <a:r>
              <a:rPr lang="en-US" sz="1400" dirty="0" err="1"/>
              <a:t>rent_diff</a:t>
            </a:r>
            <a:r>
              <a:rPr lang="en-US" sz="1400" dirty="0"/>
              <a:t> = rent – </a:t>
            </a:r>
            <a:r>
              <a:rPr lang="en-US" sz="1400" dirty="0" err="1"/>
              <a:t>monthly_rent</a:t>
            </a:r>
            <a:endParaRPr lang="en-US" sz="1400" dirty="0"/>
          </a:p>
          <a:p>
            <a:pPr marL="285750" indent="-285750">
              <a:buFont typeface="Arial" panose="020B0604020202020204" pitchFamily="34" charset="0"/>
              <a:buChar char="•"/>
            </a:pPr>
            <a:r>
              <a:rPr lang="en-US" sz="1400" dirty="0" err="1"/>
              <a:t>percentage_rent_diff</a:t>
            </a:r>
            <a:r>
              <a:rPr lang="en-US" sz="1400" dirty="0"/>
              <a:t> = </a:t>
            </a:r>
            <a:r>
              <a:rPr lang="en-US" sz="1400" dirty="0" err="1"/>
              <a:t>rent_diff</a:t>
            </a:r>
            <a:r>
              <a:rPr lang="en-US" sz="1400" dirty="0"/>
              <a:t> / </a:t>
            </a:r>
            <a:r>
              <a:rPr lang="en-US" sz="1400" dirty="0" err="1"/>
              <a:t>monthly_rent</a:t>
            </a:r>
            <a:endParaRPr lang="en-US" sz="1400" dirty="0"/>
          </a:p>
          <a:p>
            <a:pPr marL="285750" indent="-285750">
              <a:buFont typeface="Arial" panose="020B0604020202020204" pitchFamily="34" charset="0"/>
              <a:buChar char="•"/>
            </a:pPr>
            <a:r>
              <a:rPr lang="en-US" sz="1400" dirty="0" err="1"/>
              <a:t>lease_length</a:t>
            </a:r>
            <a:r>
              <a:rPr lang="en-US" sz="1400" dirty="0"/>
              <a:t> = </a:t>
            </a:r>
            <a:r>
              <a:rPr lang="en-US" sz="1400" dirty="0" err="1"/>
              <a:t>lease_end_date</a:t>
            </a:r>
            <a:r>
              <a:rPr lang="en-US" sz="1400" dirty="0"/>
              <a:t> – </a:t>
            </a:r>
            <a:r>
              <a:rPr lang="en-US" sz="1400" dirty="0" err="1"/>
              <a:t>lease_start_date_sent</a:t>
            </a:r>
            <a:r>
              <a:rPr lang="en-US" sz="1400" dirty="0"/>
              <a:t> </a:t>
            </a:r>
          </a:p>
          <a:p>
            <a:pPr marL="285750" indent="-285750">
              <a:buFont typeface="Arial" panose="020B0604020202020204" pitchFamily="34" charset="0"/>
              <a:buChar char="•"/>
            </a:pPr>
            <a:r>
              <a:rPr lang="en-US" sz="1400" dirty="0" err="1"/>
              <a:t>lease_window_length</a:t>
            </a:r>
            <a:r>
              <a:rPr lang="en-US" sz="1400" dirty="0"/>
              <a:t> = </a:t>
            </a:r>
            <a:r>
              <a:rPr lang="en-US" sz="1400" dirty="0" err="1"/>
              <a:t>lease_end_date</a:t>
            </a:r>
            <a:r>
              <a:rPr lang="en-US" sz="1400" dirty="0"/>
              <a:t> – </a:t>
            </a:r>
            <a:r>
              <a:rPr lang="en-US" sz="1400" dirty="0" err="1"/>
              <a:t>date_sent</a:t>
            </a:r>
            <a:endParaRPr lang="en-US" sz="1400" dirty="0"/>
          </a:p>
        </p:txBody>
      </p:sp>
      <p:sp>
        <p:nvSpPr>
          <p:cNvPr id="8" name="TextBox 7">
            <a:extLst>
              <a:ext uri="{FF2B5EF4-FFF2-40B4-BE49-F238E27FC236}">
                <a16:creationId xmlns:a16="http://schemas.microsoft.com/office/drawing/2014/main" id="{7182CEAC-9CBD-C96A-DF33-2C87C12FFAC2}"/>
              </a:ext>
            </a:extLst>
          </p:cNvPr>
          <p:cNvSpPr txBox="1"/>
          <p:nvPr/>
        </p:nvSpPr>
        <p:spPr>
          <a:xfrm>
            <a:off x="424873" y="3925529"/>
            <a:ext cx="6740948" cy="1169551"/>
          </a:xfrm>
          <a:prstGeom prst="rect">
            <a:avLst/>
          </a:prstGeom>
          <a:noFill/>
        </p:spPr>
        <p:txBody>
          <a:bodyPr wrap="none" rtlCol="0">
            <a:spAutoFit/>
          </a:bodyPr>
          <a:lstStyle/>
          <a:p>
            <a:pPr marL="285750" indent="-285750">
              <a:buFont typeface="Arial" panose="020B0604020202020204" pitchFamily="34" charset="0"/>
              <a:buChar char="•"/>
            </a:pPr>
            <a:r>
              <a:rPr lang="en-US" sz="1400" dirty="0" err="1"/>
              <a:t>avg_completion_time</a:t>
            </a:r>
            <a:r>
              <a:rPr lang="en-US" sz="1400" dirty="0"/>
              <a:t>: for no completed requests fill in with median</a:t>
            </a:r>
          </a:p>
          <a:p>
            <a:pPr marL="285750" indent="-285750">
              <a:buFont typeface="Arial" panose="020B0604020202020204" pitchFamily="34" charset="0"/>
              <a:buChar char="•"/>
            </a:pPr>
            <a:r>
              <a:rPr lang="en-US" sz="1400" dirty="0" err="1"/>
              <a:t>avg_completion_diff</a:t>
            </a:r>
            <a:r>
              <a:rPr lang="en-US" sz="1400" dirty="0"/>
              <a:t>: for no completed requests fill in with median</a:t>
            </a:r>
          </a:p>
          <a:p>
            <a:pPr marL="285750" indent="-285750">
              <a:buFont typeface="Arial" panose="020B0604020202020204" pitchFamily="34" charset="0"/>
              <a:buChar char="•"/>
            </a:pPr>
            <a:r>
              <a:rPr lang="en-US" sz="1400" dirty="0" err="1"/>
              <a:t>number_of_completed_requests</a:t>
            </a:r>
            <a:endParaRPr lang="en-US" sz="1400" dirty="0"/>
          </a:p>
          <a:p>
            <a:pPr marL="285750" indent="-285750">
              <a:buFont typeface="Arial" panose="020B0604020202020204" pitchFamily="34" charset="0"/>
              <a:buChar char="•"/>
            </a:pPr>
            <a:r>
              <a:rPr lang="en-US" sz="1400" dirty="0" err="1"/>
              <a:t>number_of_requests</a:t>
            </a:r>
            <a:endParaRPr lang="en-US" sz="1400" dirty="0"/>
          </a:p>
          <a:p>
            <a:pPr marL="285750" indent="-285750">
              <a:buFont typeface="Arial" panose="020B0604020202020204" pitchFamily="34" charset="0"/>
              <a:buChar char="•"/>
            </a:pPr>
            <a:r>
              <a:rPr lang="en-US" sz="1400" dirty="0" err="1"/>
              <a:t>percent_completion</a:t>
            </a:r>
            <a:r>
              <a:rPr lang="en-US" sz="1400" dirty="0"/>
              <a:t> = </a:t>
            </a:r>
            <a:r>
              <a:rPr lang="en-US" sz="1400" dirty="0" err="1"/>
              <a:t>number_of_completed_requests</a:t>
            </a:r>
            <a:r>
              <a:rPr lang="en-US" sz="1400" dirty="0"/>
              <a:t> / </a:t>
            </a:r>
            <a:r>
              <a:rPr lang="en-US" sz="1400" dirty="0" err="1"/>
              <a:t>number_of_requests</a:t>
            </a:r>
            <a:endParaRPr lang="en-US" sz="1400" dirty="0"/>
          </a:p>
        </p:txBody>
      </p:sp>
      <p:sp>
        <p:nvSpPr>
          <p:cNvPr id="9" name="TextBox 8">
            <a:extLst>
              <a:ext uri="{FF2B5EF4-FFF2-40B4-BE49-F238E27FC236}">
                <a16:creationId xmlns:a16="http://schemas.microsoft.com/office/drawing/2014/main" id="{E5FF57F9-34EE-B875-C741-196AD236B599}"/>
              </a:ext>
            </a:extLst>
          </p:cNvPr>
          <p:cNvSpPr txBox="1"/>
          <p:nvPr/>
        </p:nvSpPr>
        <p:spPr>
          <a:xfrm>
            <a:off x="424873" y="3648945"/>
            <a:ext cx="5658921" cy="369332"/>
          </a:xfrm>
          <a:prstGeom prst="rect">
            <a:avLst/>
          </a:prstGeom>
          <a:noFill/>
        </p:spPr>
        <p:txBody>
          <a:bodyPr wrap="none" rtlCol="0">
            <a:spAutoFit/>
          </a:bodyPr>
          <a:lstStyle/>
          <a:p>
            <a:r>
              <a:rPr lang="en-US" dirty="0"/>
              <a:t>Merge Residents </a:t>
            </a:r>
            <a:r>
              <a:rPr lang="en-US" dirty="0">
                <a:sym typeface="Wingdings" pitchFamily="2" charset="2"/>
              </a:rPr>
              <a:t></a:t>
            </a:r>
            <a:r>
              <a:rPr lang="en-US" dirty="0"/>
              <a:t> Maintenance (on = </a:t>
            </a:r>
            <a:r>
              <a:rPr lang="en-US" dirty="0" err="1"/>
              <a:t>resident_id</a:t>
            </a:r>
            <a:r>
              <a:rPr lang="en-US" dirty="0"/>
              <a:t>)</a:t>
            </a:r>
          </a:p>
        </p:txBody>
      </p:sp>
      <p:sp>
        <p:nvSpPr>
          <p:cNvPr id="10" name="TextBox 9">
            <a:extLst>
              <a:ext uri="{FF2B5EF4-FFF2-40B4-BE49-F238E27FC236}">
                <a16:creationId xmlns:a16="http://schemas.microsoft.com/office/drawing/2014/main" id="{ADC18B38-D51B-E381-7051-3509F766A452}"/>
              </a:ext>
            </a:extLst>
          </p:cNvPr>
          <p:cNvSpPr txBox="1"/>
          <p:nvPr/>
        </p:nvSpPr>
        <p:spPr>
          <a:xfrm>
            <a:off x="424873" y="5036800"/>
            <a:ext cx="5856090" cy="369332"/>
          </a:xfrm>
          <a:prstGeom prst="rect">
            <a:avLst/>
          </a:prstGeom>
          <a:noFill/>
        </p:spPr>
        <p:txBody>
          <a:bodyPr wrap="none" rtlCol="0">
            <a:spAutoFit/>
          </a:bodyPr>
          <a:lstStyle/>
          <a:p>
            <a:r>
              <a:rPr lang="en-US" dirty="0"/>
              <a:t>Merge Residents </a:t>
            </a:r>
            <a:r>
              <a:rPr lang="en-US" dirty="0">
                <a:sym typeface="Wingdings" pitchFamily="2" charset="2"/>
              </a:rPr>
              <a:t></a:t>
            </a:r>
            <a:r>
              <a:rPr lang="en-US" dirty="0"/>
              <a:t> Conversations (on = </a:t>
            </a:r>
            <a:r>
              <a:rPr lang="en-US" dirty="0" err="1"/>
              <a:t>resident_id</a:t>
            </a:r>
            <a:r>
              <a:rPr lang="en-US" dirty="0"/>
              <a:t>) </a:t>
            </a:r>
          </a:p>
        </p:txBody>
      </p:sp>
      <p:sp>
        <p:nvSpPr>
          <p:cNvPr id="11" name="TextBox 10">
            <a:extLst>
              <a:ext uri="{FF2B5EF4-FFF2-40B4-BE49-F238E27FC236}">
                <a16:creationId xmlns:a16="http://schemas.microsoft.com/office/drawing/2014/main" id="{91D5CD77-14E3-33F5-2111-B7C23342F489}"/>
              </a:ext>
            </a:extLst>
          </p:cNvPr>
          <p:cNvSpPr txBox="1"/>
          <p:nvPr/>
        </p:nvSpPr>
        <p:spPr>
          <a:xfrm>
            <a:off x="424873" y="5338858"/>
            <a:ext cx="5009705" cy="307777"/>
          </a:xfrm>
          <a:prstGeom prst="rect">
            <a:avLst/>
          </a:prstGeom>
          <a:noFill/>
        </p:spPr>
        <p:txBody>
          <a:bodyPr wrap="none" rtlCol="0">
            <a:spAutoFit/>
          </a:bodyPr>
          <a:lstStyle/>
          <a:p>
            <a:pPr marL="285750" indent="-285750">
              <a:buFont typeface="Arial" panose="020B0604020202020204" pitchFamily="34" charset="0"/>
              <a:buChar char="•"/>
            </a:pPr>
            <a:r>
              <a:rPr lang="en-US" sz="1400" dirty="0" err="1"/>
              <a:t>msg_count</a:t>
            </a:r>
            <a:r>
              <a:rPr lang="en-US" sz="1400" dirty="0"/>
              <a:t>: sum over number of messages sent by user</a:t>
            </a:r>
          </a:p>
        </p:txBody>
      </p:sp>
      <p:sp>
        <p:nvSpPr>
          <p:cNvPr id="12" name="TextBox 11">
            <a:extLst>
              <a:ext uri="{FF2B5EF4-FFF2-40B4-BE49-F238E27FC236}">
                <a16:creationId xmlns:a16="http://schemas.microsoft.com/office/drawing/2014/main" id="{363F892C-44E7-523D-5450-C4D5CAAFED42}"/>
              </a:ext>
            </a:extLst>
          </p:cNvPr>
          <p:cNvSpPr txBox="1"/>
          <p:nvPr/>
        </p:nvSpPr>
        <p:spPr>
          <a:xfrm>
            <a:off x="6270111" y="2373117"/>
            <a:ext cx="5206875" cy="369332"/>
          </a:xfrm>
          <a:prstGeom prst="rect">
            <a:avLst/>
          </a:prstGeom>
          <a:noFill/>
        </p:spPr>
        <p:txBody>
          <a:bodyPr wrap="none" rtlCol="0">
            <a:spAutoFit/>
          </a:bodyPr>
          <a:lstStyle/>
          <a:p>
            <a:r>
              <a:rPr lang="en-US" dirty="0"/>
              <a:t>Aggregate on </a:t>
            </a:r>
            <a:r>
              <a:rPr lang="en-US" dirty="0" err="1"/>
              <a:t>unit_number</a:t>
            </a:r>
            <a:r>
              <a:rPr lang="en-US" dirty="0"/>
              <a:t> and </a:t>
            </a:r>
            <a:r>
              <a:rPr lang="en-US" dirty="0" err="1"/>
              <a:t>lease_end_date</a:t>
            </a:r>
            <a:endParaRPr lang="en-US" dirty="0"/>
          </a:p>
        </p:txBody>
      </p:sp>
      <p:sp>
        <p:nvSpPr>
          <p:cNvPr id="13" name="TextBox 12">
            <a:extLst>
              <a:ext uri="{FF2B5EF4-FFF2-40B4-BE49-F238E27FC236}">
                <a16:creationId xmlns:a16="http://schemas.microsoft.com/office/drawing/2014/main" id="{F06E4171-3618-4958-D76A-7D71EAF35B08}"/>
              </a:ext>
            </a:extLst>
          </p:cNvPr>
          <p:cNvSpPr txBox="1"/>
          <p:nvPr/>
        </p:nvSpPr>
        <p:spPr>
          <a:xfrm>
            <a:off x="7379239" y="4356416"/>
            <a:ext cx="3972251" cy="1477328"/>
          </a:xfrm>
          <a:prstGeom prst="rect">
            <a:avLst/>
          </a:prstGeom>
          <a:noFill/>
        </p:spPr>
        <p:txBody>
          <a:bodyPr wrap="square" rtlCol="0">
            <a:spAutoFit/>
          </a:bodyPr>
          <a:lstStyle/>
          <a:p>
            <a:pPr algn="ctr"/>
            <a:r>
              <a:rPr lang="en-US" dirty="0"/>
              <a:t>New features replace old features.</a:t>
            </a:r>
          </a:p>
          <a:p>
            <a:pPr algn="ctr"/>
            <a:endParaRPr lang="en-US" dirty="0"/>
          </a:p>
          <a:p>
            <a:pPr algn="ctr"/>
            <a:r>
              <a:rPr lang="en-US" dirty="0"/>
              <a:t>Renewal Decisions are made by the unit, not the resident. It would be unwise to train on repeat data.</a:t>
            </a:r>
          </a:p>
        </p:txBody>
      </p:sp>
      <p:sp>
        <p:nvSpPr>
          <p:cNvPr id="14" name="TextBox 13">
            <a:extLst>
              <a:ext uri="{FF2B5EF4-FFF2-40B4-BE49-F238E27FC236}">
                <a16:creationId xmlns:a16="http://schemas.microsoft.com/office/drawing/2014/main" id="{8673D062-6B48-A6DE-8C9B-E4649B5D04E3}"/>
              </a:ext>
            </a:extLst>
          </p:cNvPr>
          <p:cNvSpPr txBox="1"/>
          <p:nvPr/>
        </p:nvSpPr>
        <p:spPr>
          <a:xfrm>
            <a:off x="6270112" y="2694838"/>
            <a:ext cx="3894570"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t>Sum message and maintenance data per household</a:t>
            </a:r>
          </a:p>
          <a:p>
            <a:pPr marL="285750" indent="-285750">
              <a:buFont typeface="Arial" panose="020B0604020202020204" pitchFamily="34" charset="0"/>
              <a:buChar char="•"/>
            </a:pPr>
            <a:r>
              <a:rPr lang="en-US" sz="1400" dirty="0" err="1"/>
              <a:t>occupancy_count</a:t>
            </a:r>
            <a:r>
              <a:rPr lang="en-US" sz="1400" dirty="0"/>
              <a:t>: number of residents in the same unit with the same </a:t>
            </a:r>
            <a:r>
              <a:rPr lang="en-US" sz="1400" dirty="0" err="1"/>
              <a:t>lease_end_date</a:t>
            </a:r>
            <a:endParaRPr lang="en-US" sz="1400" dirty="0"/>
          </a:p>
          <a:p>
            <a:pPr marL="285750" indent="-285750">
              <a:buFont typeface="Arial" panose="020B0604020202020204" pitchFamily="34" charset="0"/>
              <a:buChar char="•"/>
            </a:pPr>
            <a:r>
              <a:rPr lang="en-US" sz="1400" dirty="0"/>
              <a:t>Note: Averages are calculated after aggregation</a:t>
            </a:r>
          </a:p>
        </p:txBody>
      </p:sp>
    </p:spTree>
    <p:extLst>
      <p:ext uri="{BB962C8B-B14F-4D97-AF65-F5344CB8AC3E}">
        <p14:creationId xmlns:p14="http://schemas.microsoft.com/office/powerpoint/2010/main" val="3418298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B56D0-4ACC-5225-4FDC-9D4A6E6C66AF}"/>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D932676D-4313-C734-D9EA-0912929170F5}"/>
              </a:ext>
            </a:extLst>
          </p:cNvPr>
          <p:cNvSpPr>
            <a:spLocks noGrp="1"/>
          </p:cNvSpPr>
          <p:nvPr>
            <p:ph type="sldNum" sz="quarter" idx="12"/>
          </p:nvPr>
        </p:nvSpPr>
        <p:spPr/>
        <p:txBody>
          <a:bodyPr/>
          <a:lstStyle/>
          <a:p>
            <a:fld id="{DCC1F92A-C6D8-4423-A6E5-606ADED483CD}" type="slidenum">
              <a:rPr lang="en-US" smtClean="0"/>
              <a:t>10</a:t>
            </a:fld>
            <a:endParaRPr lang="en-US"/>
          </a:p>
        </p:txBody>
      </p:sp>
      <p:sp>
        <p:nvSpPr>
          <p:cNvPr id="5" name="TextBox 4">
            <a:extLst>
              <a:ext uri="{FF2B5EF4-FFF2-40B4-BE49-F238E27FC236}">
                <a16:creationId xmlns:a16="http://schemas.microsoft.com/office/drawing/2014/main" id="{F3B57D00-6564-FEF1-1DD2-02EAC9D5ED5D}"/>
              </a:ext>
            </a:extLst>
          </p:cNvPr>
          <p:cNvSpPr txBox="1"/>
          <p:nvPr/>
        </p:nvSpPr>
        <p:spPr>
          <a:xfrm>
            <a:off x="5015346" y="1848196"/>
            <a:ext cx="1685077" cy="369332"/>
          </a:xfrm>
          <a:prstGeom prst="rect">
            <a:avLst/>
          </a:prstGeom>
          <a:noFill/>
        </p:spPr>
        <p:txBody>
          <a:bodyPr wrap="none" rtlCol="0">
            <a:spAutoFit/>
          </a:bodyPr>
          <a:lstStyle/>
          <a:p>
            <a:r>
              <a:rPr lang="en-US" dirty="0"/>
              <a:t>New Features</a:t>
            </a:r>
          </a:p>
        </p:txBody>
      </p:sp>
      <p:sp>
        <p:nvSpPr>
          <p:cNvPr id="12" name="TextBox 11">
            <a:extLst>
              <a:ext uri="{FF2B5EF4-FFF2-40B4-BE49-F238E27FC236}">
                <a16:creationId xmlns:a16="http://schemas.microsoft.com/office/drawing/2014/main" id="{363F892C-44E7-523D-5450-C4D5CAAFED42}"/>
              </a:ext>
            </a:extLst>
          </p:cNvPr>
          <p:cNvSpPr txBox="1"/>
          <p:nvPr/>
        </p:nvSpPr>
        <p:spPr>
          <a:xfrm>
            <a:off x="6270111" y="2373117"/>
            <a:ext cx="5206875" cy="369332"/>
          </a:xfrm>
          <a:prstGeom prst="rect">
            <a:avLst/>
          </a:prstGeom>
          <a:noFill/>
        </p:spPr>
        <p:txBody>
          <a:bodyPr wrap="none" rtlCol="0">
            <a:spAutoFit/>
          </a:bodyPr>
          <a:lstStyle/>
          <a:p>
            <a:r>
              <a:rPr lang="en-US" dirty="0"/>
              <a:t>Aggregate on </a:t>
            </a:r>
            <a:r>
              <a:rPr lang="en-US" dirty="0" err="1"/>
              <a:t>unit_number</a:t>
            </a:r>
            <a:r>
              <a:rPr lang="en-US" dirty="0"/>
              <a:t> and </a:t>
            </a:r>
            <a:r>
              <a:rPr lang="en-US" dirty="0" err="1"/>
              <a:t>lease_end_date</a:t>
            </a:r>
            <a:endParaRPr lang="en-US" dirty="0"/>
          </a:p>
        </p:txBody>
      </p:sp>
      <p:sp>
        <p:nvSpPr>
          <p:cNvPr id="14" name="TextBox 13">
            <a:extLst>
              <a:ext uri="{FF2B5EF4-FFF2-40B4-BE49-F238E27FC236}">
                <a16:creationId xmlns:a16="http://schemas.microsoft.com/office/drawing/2014/main" id="{8673D062-6B48-A6DE-8C9B-E4649B5D04E3}"/>
              </a:ext>
            </a:extLst>
          </p:cNvPr>
          <p:cNvSpPr txBox="1"/>
          <p:nvPr/>
        </p:nvSpPr>
        <p:spPr>
          <a:xfrm>
            <a:off x="6270112" y="2694838"/>
            <a:ext cx="3894570"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t>Sum message and maintenance data per household</a:t>
            </a:r>
          </a:p>
          <a:p>
            <a:pPr marL="285750" indent="-285750">
              <a:buFont typeface="Arial" panose="020B0604020202020204" pitchFamily="34" charset="0"/>
              <a:buChar char="•"/>
            </a:pPr>
            <a:r>
              <a:rPr lang="en-US" sz="1400" dirty="0" err="1"/>
              <a:t>occupancy_count</a:t>
            </a:r>
            <a:r>
              <a:rPr lang="en-US" sz="1400" dirty="0"/>
              <a:t>: number of residents in the same unit with the same </a:t>
            </a:r>
            <a:r>
              <a:rPr lang="en-US" sz="1400" dirty="0" err="1"/>
              <a:t>lease_end_date</a:t>
            </a:r>
            <a:endParaRPr lang="en-US" sz="1400" dirty="0"/>
          </a:p>
          <a:p>
            <a:pPr marL="285750" indent="-285750">
              <a:buFont typeface="Arial" panose="020B0604020202020204" pitchFamily="34" charset="0"/>
              <a:buChar char="•"/>
            </a:pPr>
            <a:r>
              <a:rPr lang="en-US" sz="1400" dirty="0"/>
              <a:t>Note: Averages are calculated after aggregation</a:t>
            </a:r>
          </a:p>
        </p:txBody>
      </p:sp>
      <p:sp>
        <p:nvSpPr>
          <p:cNvPr id="3" name="TextBox 2">
            <a:extLst>
              <a:ext uri="{FF2B5EF4-FFF2-40B4-BE49-F238E27FC236}">
                <a16:creationId xmlns:a16="http://schemas.microsoft.com/office/drawing/2014/main" id="{EE40914E-6BDB-6CE2-56A3-297D74136FBF}"/>
              </a:ext>
            </a:extLst>
          </p:cNvPr>
          <p:cNvSpPr txBox="1"/>
          <p:nvPr/>
        </p:nvSpPr>
        <p:spPr>
          <a:xfrm>
            <a:off x="2341481" y="2557783"/>
            <a:ext cx="1981998" cy="3046988"/>
          </a:xfrm>
          <a:prstGeom prst="rect">
            <a:avLst/>
          </a:prstGeom>
          <a:noFill/>
        </p:spPr>
        <p:txBody>
          <a:bodyPr wrap="square">
            <a:spAutoFit/>
          </a:bodyPr>
          <a:lstStyle/>
          <a:p>
            <a:r>
              <a:rPr lang="en-US" sz="1200" b="0" i="0" dirty="0" err="1">
                <a:effectLst/>
                <a:latin typeface="Menlo" panose="020B0609030804020204" pitchFamily="49" charset="0"/>
              </a:rPr>
              <a:t>occupancy_count</a:t>
            </a:r>
            <a:endParaRPr lang="en-US" sz="1200" dirty="0">
              <a:latin typeface="Menlo" panose="020B0609030804020204" pitchFamily="49" charset="0"/>
            </a:endParaRPr>
          </a:p>
          <a:p>
            <a:r>
              <a:rPr lang="en-US" sz="1200" b="0" i="0" dirty="0">
                <a:effectLst/>
                <a:latin typeface="Menlo" panose="020B0609030804020204" pitchFamily="49" charset="0"/>
              </a:rPr>
              <a:t>1 220 </a:t>
            </a:r>
          </a:p>
          <a:p>
            <a:r>
              <a:rPr lang="en-US" sz="1200" b="0" i="0" dirty="0">
                <a:effectLst/>
                <a:latin typeface="Menlo" panose="020B0609030804020204" pitchFamily="49" charset="0"/>
              </a:rPr>
              <a:t>2 164 </a:t>
            </a:r>
          </a:p>
          <a:p>
            <a:r>
              <a:rPr lang="en-US" sz="1200" b="0" i="0" dirty="0">
                <a:effectLst/>
                <a:latin typeface="Menlo" panose="020B0609030804020204" pitchFamily="49" charset="0"/>
              </a:rPr>
              <a:t>4 45 </a:t>
            </a:r>
          </a:p>
          <a:p>
            <a:r>
              <a:rPr lang="en-US" sz="1200" b="0" i="0" dirty="0">
                <a:effectLst/>
                <a:latin typeface="Menlo" panose="020B0609030804020204" pitchFamily="49" charset="0"/>
              </a:rPr>
              <a:t>3 25 </a:t>
            </a:r>
          </a:p>
          <a:p>
            <a:endParaRPr lang="en-US" sz="1200" b="0" i="0" dirty="0">
              <a:effectLst/>
              <a:latin typeface="Menlo" panose="020B0609030804020204" pitchFamily="49" charset="0"/>
            </a:endParaRPr>
          </a:p>
          <a:p>
            <a:r>
              <a:rPr lang="en-US" sz="1200" b="0" i="0" dirty="0" err="1">
                <a:effectLst/>
                <a:latin typeface="Menlo" panose="020B0609030804020204" pitchFamily="49" charset="0"/>
              </a:rPr>
              <a:t>pet_details</a:t>
            </a:r>
            <a:r>
              <a:rPr lang="en-US" sz="1200" b="0" i="0" dirty="0">
                <a:effectLst/>
                <a:latin typeface="Menlo" panose="020B0609030804020204" pitchFamily="49" charset="0"/>
              </a:rPr>
              <a:t> </a:t>
            </a:r>
          </a:p>
          <a:p>
            <a:r>
              <a:rPr lang="en-US" sz="1200" b="0" i="0" dirty="0">
                <a:effectLst/>
                <a:latin typeface="Menlo" panose="020B0609030804020204" pitchFamily="49" charset="0"/>
              </a:rPr>
              <a:t>1.0 213 </a:t>
            </a:r>
          </a:p>
          <a:p>
            <a:r>
              <a:rPr lang="en-US" sz="1200" b="0" i="0" dirty="0">
                <a:effectLst/>
                <a:latin typeface="Menlo" panose="020B0609030804020204" pitchFamily="49" charset="0"/>
              </a:rPr>
              <a:t>0.0 154 </a:t>
            </a:r>
          </a:p>
          <a:p>
            <a:r>
              <a:rPr lang="en-US" sz="1200" b="0" i="0" dirty="0">
                <a:effectLst/>
                <a:latin typeface="Menlo" panose="020B0609030804020204" pitchFamily="49" charset="0"/>
              </a:rPr>
              <a:t>2.0 87 </a:t>
            </a:r>
          </a:p>
          <a:p>
            <a:endParaRPr lang="en-US" sz="1200" dirty="0">
              <a:latin typeface="Menlo" panose="020B0609030804020204" pitchFamily="49" charset="0"/>
            </a:endParaRPr>
          </a:p>
          <a:p>
            <a:r>
              <a:rPr lang="en-US" sz="1200" b="0" i="0" dirty="0" err="1">
                <a:effectLst/>
                <a:latin typeface="Menlo" panose="020B0609030804020204" pitchFamily="49" charset="0"/>
              </a:rPr>
              <a:t>msg_count</a:t>
            </a:r>
            <a:r>
              <a:rPr lang="en-US" sz="1200" b="0" i="0" dirty="0">
                <a:effectLst/>
                <a:latin typeface="Menlo" panose="020B0609030804020204" pitchFamily="49" charset="0"/>
              </a:rPr>
              <a:t> </a:t>
            </a:r>
          </a:p>
          <a:p>
            <a:r>
              <a:rPr lang="en-US" sz="1200" b="0" i="0" dirty="0">
                <a:effectLst/>
                <a:latin typeface="Menlo" panose="020B0609030804020204" pitchFamily="49" charset="0"/>
              </a:rPr>
              <a:t>1 220 </a:t>
            </a:r>
          </a:p>
          <a:p>
            <a:r>
              <a:rPr lang="en-US" sz="1200" b="0" i="0" dirty="0">
                <a:effectLst/>
                <a:latin typeface="Menlo" panose="020B0609030804020204" pitchFamily="49" charset="0"/>
              </a:rPr>
              <a:t>2 164 </a:t>
            </a:r>
          </a:p>
          <a:p>
            <a:r>
              <a:rPr lang="en-US" sz="1200" b="0" i="0" dirty="0">
                <a:effectLst/>
                <a:latin typeface="Menlo" panose="020B0609030804020204" pitchFamily="49" charset="0"/>
              </a:rPr>
              <a:t>4 45 </a:t>
            </a:r>
          </a:p>
          <a:p>
            <a:r>
              <a:rPr lang="en-US" sz="1200" b="0" i="0" dirty="0">
                <a:effectLst/>
                <a:latin typeface="Menlo" panose="020B0609030804020204" pitchFamily="49" charset="0"/>
              </a:rPr>
              <a:t>3 25</a:t>
            </a:r>
            <a:endParaRPr lang="en-US" sz="1200" dirty="0"/>
          </a:p>
        </p:txBody>
      </p:sp>
      <p:sp>
        <p:nvSpPr>
          <p:cNvPr id="7" name="TextBox 6">
            <a:extLst>
              <a:ext uri="{FF2B5EF4-FFF2-40B4-BE49-F238E27FC236}">
                <a16:creationId xmlns:a16="http://schemas.microsoft.com/office/drawing/2014/main" id="{F709F136-29C4-DC27-65F5-5AE53E275059}"/>
              </a:ext>
            </a:extLst>
          </p:cNvPr>
          <p:cNvSpPr txBox="1"/>
          <p:nvPr/>
        </p:nvSpPr>
        <p:spPr>
          <a:xfrm>
            <a:off x="7379239" y="4356416"/>
            <a:ext cx="3972251" cy="1477328"/>
          </a:xfrm>
          <a:prstGeom prst="rect">
            <a:avLst/>
          </a:prstGeom>
          <a:noFill/>
        </p:spPr>
        <p:txBody>
          <a:bodyPr wrap="square" rtlCol="0">
            <a:spAutoFit/>
          </a:bodyPr>
          <a:lstStyle/>
          <a:p>
            <a:pPr algn="ctr"/>
            <a:r>
              <a:rPr lang="en-US" dirty="0"/>
              <a:t>New features replace old features.</a:t>
            </a:r>
          </a:p>
          <a:p>
            <a:pPr algn="ctr"/>
            <a:endParaRPr lang="en-US" dirty="0"/>
          </a:p>
          <a:p>
            <a:pPr algn="ctr"/>
            <a:r>
              <a:rPr lang="en-US" dirty="0"/>
              <a:t>Renewal Decisions are made by the unit, not the resident. It would be unwise to train on repeat data.</a:t>
            </a:r>
          </a:p>
        </p:txBody>
      </p:sp>
    </p:spTree>
    <p:extLst>
      <p:ext uri="{BB962C8B-B14F-4D97-AF65-F5344CB8AC3E}">
        <p14:creationId xmlns:p14="http://schemas.microsoft.com/office/powerpoint/2010/main" val="2580111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B56D0-4ACC-5225-4FDC-9D4A6E6C66AF}"/>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D932676D-4313-C734-D9EA-0912929170F5}"/>
              </a:ext>
            </a:extLst>
          </p:cNvPr>
          <p:cNvSpPr>
            <a:spLocks noGrp="1"/>
          </p:cNvSpPr>
          <p:nvPr>
            <p:ph type="sldNum" sz="quarter" idx="12"/>
          </p:nvPr>
        </p:nvSpPr>
        <p:spPr/>
        <p:txBody>
          <a:bodyPr/>
          <a:lstStyle/>
          <a:p>
            <a:fld id="{DCC1F92A-C6D8-4423-A6E5-606ADED483CD}" type="slidenum">
              <a:rPr lang="en-US" smtClean="0"/>
              <a:t>11</a:t>
            </a:fld>
            <a:endParaRPr lang="en-US"/>
          </a:p>
        </p:txBody>
      </p:sp>
      <p:sp>
        <p:nvSpPr>
          <p:cNvPr id="5" name="TextBox 4">
            <a:extLst>
              <a:ext uri="{FF2B5EF4-FFF2-40B4-BE49-F238E27FC236}">
                <a16:creationId xmlns:a16="http://schemas.microsoft.com/office/drawing/2014/main" id="{F3B57D00-6564-FEF1-1DD2-02EAC9D5ED5D}"/>
              </a:ext>
            </a:extLst>
          </p:cNvPr>
          <p:cNvSpPr txBox="1"/>
          <p:nvPr/>
        </p:nvSpPr>
        <p:spPr>
          <a:xfrm>
            <a:off x="5015346" y="1848196"/>
            <a:ext cx="1939955" cy="369332"/>
          </a:xfrm>
          <a:prstGeom prst="rect">
            <a:avLst/>
          </a:prstGeom>
          <a:noFill/>
        </p:spPr>
        <p:txBody>
          <a:bodyPr wrap="none" rtlCol="0">
            <a:spAutoFit/>
          </a:bodyPr>
          <a:lstStyle/>
          <a:p>
            <a:r>
              <a:rPr lang="en-US" dirty="0"/>
              <a:t>Outlier Analysis</a:t>
            </a:r>
          </a:p>
        </p:txBody>
      </p:sp>
      <p:pic>
        <p:nvPicPr>
          <p:cNvPr id="12" name="Picture 11">
            <a:extLst>
              <a:ext uri="{FF2B5EF4-FFF2-40B4-BE49-F238E27FC236}">
                <a16:creationId xmlns:a16="http://schemas.microsoft.com/office/drawing/2014/main" id="{E010FDE5-43EA-FAD9-80AB-313D977FE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2418518"/>
            <a:ext cx="4106140" cy="3246947"/>
          </a:xfrm>
          <a:prstGeom prst="rect">
            <a:avLst/>
          </a:prstGeom>
        </p:spPr>
      </p:pic>
      <p:sp>
        <p:nvSpPr>
          <p:cNvPr id="14" name="TextBox 13">
            <a:extLst>
              <a:ext uri="{FF2B5EF4-FFF2-40B4-BE49-F238E27FC236}">
                <a16:creationId xmlns:a16="http://schemas.microsoft.com/office/drawing/2014/main" id="{0492C95D-96E3-E837-09AC-683FDEDE823D}"/>
              </a:ext>
            </a:extLst>
          </p:cNvPr>
          <p:cNvSpPr txBox="1"/>
          <p:nvPr/>
        </p:nvSpPr>
        <p:spPr>
          <a:xfrm>
            <a:off x="3546438" y="4213253"/>
            <a:ext cx="2770310" cy="646331"/>
          </a:xfrm>
          <a:prstGeom prst="rect">
            <a:avLst/>
          </a:prstGeom>
          <a:noFill/>
        </p:spPr>
        <p:txBody>
          <a:bodyPr wrap="none" rtlCol="0">
            <a:spAutoFit/>
          </a:bodyPr>
          <a:lstStyle/>
          <a:p>
            <a:r>
              <a:rPr lang="en-US" dirty="0"/>
              <a:t>Monthly Rent: 2406</a:t>
            </a:r>
          </a:p>
          <a:p>
            <a:r>
              <a:rPr lang="en-US" dirty="0"/>
              <a:t>New Rent: 3673 – Typo?</a:t>
            </a:r>
          </a:p>
        </p:txBody>
      </p:sp>
      <p:pic>
        <p:nvPicPr>
          <p:cNvPr id="16" name="Picture 15">
            <a:extLst>
              <a:ext uri="{FF2B5EF4-FFF2-40B4-BE49-F238E27FC236}">
                <a16:creationId xmlns:a16="http://schemas.microsoft.com/office/drawing/2014/main" id="{3EE41ED5-3913-C97B-7106-1D21FAFC3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1751" y="2328364"/>
            <a:ext cx="4268309" cy="3201232"/>
          </a:xfrm>
          <a:prstGeom prst="rect">
            <a:avLst/>
          </a:prstGeom>
        </p:spPr>
      </p:pic>
      <p:sp>
        <p:nvSpPr>
          <p:cNvPr id="17" name="Right Arrow 16">
            <a:extLst>
              <a:ext uri="{FF2B5EF4-FFF2-40B4-BE49-F238E27FC236}">
                <a16:creationId xmlns:a16="http://schemas.microsoft.com/office/drawing/2014/main" id="{CB3F92B5-2DAD-1D46-E028-F62812AD90EE}"/>
              </a:ext>
            </a:extLst>
          </p:cNvPr>
          <p:cNvSpPr/>
          <p:nvPr/>
        </p:nvSpPr>
        <p:spPr>
          <a:xfrm>
            <a:off x="5412509" y="3325091"/>
            <a:ext cx="1209964" cy="424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E19DA6C-5813-F748-8C93-F4F376261CCA}"/>
              </a:ext>
            </a:extLst>
          </p:cNvPr>
          <p:cNvSpPr txBox="1"/>
          <p:nvPr/>
        </p:nvSpPr>
        <p:spPr>
          <a:xfrm>
            <a:off x="5090781" y="2668176"/>
            <a:ext cx="1789084" cy="646331"/>
          </a:xfrm>
          <a:prstGeom prst="rect">
            <a:avLst/>
          </a:prstGeom>
          <a:noFill/>
        </p:spPr>
        <p:txBody>
          <a:bodyPr wrap="square" rtlCol="0">
            <a:spAutoFit/>
          </a:bodyPr>
          <a:lstStyle/>
          <a:p>
            <a:pPr algn="ctr"/>
            <a:r>
              <a:rPr lang="en-US" dirty="0"/>
              <a:t>IQR </a:t>
            </a:r>
            <a:r>
              <a:rPr lang="en-US" dirty="0" err="1"/>
              <a:t>Winsorization</a:t>
            </a:r>
            <a:endParaRPr lang="en-US" dirty="0"/>
          </a:p>
        </p:txBody>
      </p:sp>
    </p:spTree>
    <p:extLst>
      <p:ext uri="{BB962C8B-B14F-4D97-AF65-F5344CB8AC3E}">
        <p14:creationId xmlns:p14="http://schemas.microsoft.com/office/powerpoint/2010/main" val="683421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B56D0-4ACC-5225-4FDC-9D4A6E6C66AF}"/>
              </a:ext>
            </a:extLst>
          </p:cNvPr>
          <p:cNvSpPr>
            <a:spLocks noGrp="1"/>
          </p:cNvSpPr>
          <p:nvPr>
            <p:ph type="title"/>
          </p:nvPr>
        </p:nvSpPr>
        <p:spPr/>
        <p:txBody>
          <a:bodyPr/>
          <a:lstStyle/>
          <a:p>
            <a:r>
              <a:rPr lang="en-US" dirty="0"/>
              <a:t>1 – Data Processing</a:t>
            </a:r>
          </a:p>
        </p:txBody>
      </p:sp>
      <p:sp>
        <p:nvSpPr>
          <p:cNvPr id="4" name="Slide Number Placeholder 3">
            <a:extLst>
              <a:ext uri="{FF2B5EF4-FFF2-40B4-BE49-F238E27FC236}">
                <a16:creationId xmlns:a16="http://schemas.microsoft.com/office/drawing/2014/main" id="{D932676D-4313-C734-D9EA-0912929170F5}"/>
              </a:ext>
            </a:extLst>
          </p:cNvPr>
          <p:cNvSpPr>
            <a:spLocks noGrp="1"/>
          </p:cNvSpPr>
          <p:nvPr>
            <p:ph type="sldNum" sz="quarter" idx="12"/>
          </p:nvPr>
        </p:nvSpPr>
        <p:spPr/>
        <p:txBody>
          <a:bodyPr/>
          <a:lstStyle/>
          <a:p>
            <a:fld id="{DCC1F92A-C6D8-4423-A6E5-606ADED483CD}" type="slidenum">
              <a:rPr lang="en-US" smtClean="0"/>
              <a:t>12</a:t>
            </a:fld>
            <a:endParaRPr lang="en-US"/>
          </a:p>
        </p:txBody>
      </p:sp>
      <p:pic>
        <p:nvPicPr>
          <p:cNvPr id="8" name="Picture 7">
            <a:extLst>
              <a:ext uri="{FF2B5EF4-FFF2-40B4-BE49-F238E27FC236}">
                <a16:creationId xmlns:a16="http://schemas.microsoft.com/office/drawing/2014/main" id="{C232ABB9-A3E5-8FBF-5914-346ECC0C1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5944" y="4077338"/>
            <a:ext cx="2852190" cy="2139143"/>
          </a:xfrm>
          <a:prstGeom prst="rect">
            <a:avLst/>
          </a:prstGeom>
        </p:spPr>
      </p:pic>
      <p:pic>
        <p:nvPicPr>
          <p:cNvPr id="10" name="Picture 9">
            <a:extLst>
              <a:ext uri="{FF2B5EF4-FFF2-40B4-BE49-F238E27FC236}">
                <a16:creationId xmlns:a16="http://schemas.microsoft.com/office/drawing/2014/main" id="{A8F059B0-CEC7-E9DD-C62A-802E0BBD71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3754" y="4024800"/>
            <a:ext cx="2852190" cy="2139143"/>
          </a:xfrm>
          <a:prstGeom prst="rect">
            <a:avLst/>
          </a:prstGeom>
        </p:spPr>
      </p:pic>
      <p:pic>
        <p:nvPicPr>
          <p:cNvPr id="13" name="Picture 12">
            <a:extLst>
              <a:ext uri="{FF2B5EF4-FFF2-40B4-BE49-F238E27FC236}">
                <a16:creationId xmlns:a16="http://schemas.microsoft.com/office/drawing/2014/main" id="{234333A4-F553-BFAF-1ED4-28567BE62F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3754" y="1938196"/>
            <a:ext cx="2852190" cy="2139143"/>
          </a:xfrm>
          <a:prstGeom prst="rect">
            <a:avLst/>
          </a:prstGeom>
        </p:spPr>
      </p:pic>
      <p:pic>
        <p:nvPicPr>
          <p:cNvPr id="19" name="Picture 18">
            <a:extLst>
              <a:ext uri="{FF2B5EF4-FFF2-40B4-BE49-F238E27FC236}">
                <a16:creationId xmlns:a16="http://schemas.microsoft.com/office/drawing/2014/main" id="{E3530068-AA87-DB69-6833-EE13FA2D46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3723" y="1938194"/>
            <a:ext cx="2852190" cy="2139143"/>
          </a:xfrm>
          <a:prstGeom prst="rect">
            <a:avLst/>
          </a:prstGeom>
        </p:spPr>
      </p:pic>
      <p:pic>
        <p:nvPicPr>
          <p:cNvPr id="21" name="Picture 20">
            <a:extLst>
              <a:ext uri="{FF2B5EF4-FFF2-40B4-BE49-F238E27FC236}">
                <a16:creationId xmlns:a16="http://schemas.microsoft.com/office/drawing/2014/main" id="{0509E1C3-FE8A-C048-F408-2413211C55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8268" y="4051069"/>
            <a:ext cx="2852190" cy="2139143"/>
          </a:xfrm>
          <a:prstGeom prst="rect">
            <a:avLst/>
          </a:prstGeom>
        </p:spPr>
      </p:pic>
      <p:pic>
        <p:nvPicPr>
          <p:cNvPr id="23" name="Picture 22">
            <a:extLst>
              <a:ext uri="{FF2B5EF4-FFF2-40B4-BE49-F238E27FC236}">
                <a16:creationId xmlns:a16="http://schemas.microsoft.com/office/drawing/2014/main" id="{E0C3941C-CF89-3AD1-D2A7-5C7CAF70E9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81894" y="2002851"/>
            <a:ext cx="2696895" cy="2139143"/>
          </a:xfrm>
          <a:prstGeom prst="rect">
            <a:avLst/>
          </a:prstGeom>
        </p:spPr>
      </p:pic>
      <p:sp>
        <p:nvSpPr>
          <p:cNvPr id="24" name="TextBox 23">
            <a:extLst>
              <a:ext uri="{FF2B5EF4-FFF2-40B4-BE49-F238E27FC236}">
                <a16:creationId xmlns:a16="http://schemas.microsoft.com/office/drawing/2014/main" id="{1E32BBD8-1E90-D1E4-CAB9-68B97CC03F6B}"/>
              </a:ext>
            </a:extLst>
          </p:cNvPr>
          <p:cNvSpPr txBox="1"/>
          <p:nvPr/>
        </p:nvSpPr>
        <p:spPr>
          <a:xfrm>
            <a:off x="9578110" y="4278171"/>
            <a:ext cx="1939636" cy="738664"/>
          </a:xfrm>
          <a:prstGeom prst="rect">
            <a:avLst/>
          </a:prstGeom>
          <a:noFill/>
        </p:spPr>
        <p:txBody>
          <a:bodyPr wrap="square" rtlCol="0">
            <a:spAutoFit/>
          </a:bodyPr>
          <a:lstStyle/>
          <a:p>
            <a:r>
              <a:rPr lang="en-US" sz="1400" dirty="0">
                <a:solidFill>
                  <a:schemeClr val="accent1"/>
                </a:solidFill>
              </a:rPr>
              <a:t>Percent completed is surprisingly low. Perhaps input error</a:t>
            </a:r>
          </a:p>
        </p:txBody>
      </p:sp>
      <p:sp>
        <p:nvSpPr>
          <p:cNvPr id="25" name="TextBox 24">
            <a:extLst>
              <a:ext uri="{FF2B5EF4-FFF2-40B4-BE49-F238E27FC236}">
                <a16:creationId xmlns:a16="http://schemas.microsoft.com/office/drawing/2014/main" id="{7442496E-FA88-7235-D11A-2F4B101770E2}"/>
              </a:ext>
            </a:extLst>
          </p:cNvPr>
          <p:cNvSpPr txBox="1"/>
          <p:nvPr/>
        </p:nvSpPr>
        <p:spPr>
          <a:xfrm>
            <a:off x="5297494" y="4656017"/>
            <a:ext cx="1939636" cy="523220"/>
          </a:xfrm>
          <a:prstGeom prst="rect">
            <a:avLst/>
          </a:prstGeom>
          <a:noFill/>
        </p:spPr>
        <p:txBody>
          <a:bodyPr wrap="square" rtlCol="0">
            <a:spAutoFit/>
          </a:bodyPr>
          <a:lstStyle/>
          <a:p>
            <a:r>
              <a:rPr lang="en-US" sz="1400" dirty="0">
                <a:solidFill>
                  <a:schemeClr val="accent1"/>
                </a:solidFill>
              </a:rPr>
              <a:t>Worth an outlier check for late inputs</a:t>
            </a:r>
          </a:p>
        </p:txBody>
      </p:sp>
    </p:spTree>
    <p:extLst>
      <p:ext uri="{BB962C8B-B14F-4D97-AF65-F5344CB8AC3E}">
        <p14:creationId xmlns:p14="http://schemas.microsoft.com/office/powerpoint/2010/main" val="143816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7143-89CF-FC6F-AB06-85F462A0E77E}"/>
              </a:ext>
            </a:extLst>
          </p:cNvPr>
          <p:cNvSpPr>
            <a:spLocks noGrp="1"/>
          </p:cNvSpPr>
          <p:nvPr>
            <p:ph type="title"/>
          </p:nvPr>
        </p:nvSpPr>
        <p:spPr/>
        <p:txBody>
          <a:bodyPr/>
          <a:lstStyle/>
          <a:p>
            <a:r>
              <a:rPr lang="en-US" dirty="0"/>
              <a:t>2 – Model Development</a:t>
            </a:r>
          </a:p>
        </p:txBody>
      </p:sp>
      <p:sp>
        <p:nvSpPr>
          <p:cNvPr id="4" name="Slide Number Placeholder 3">
            <a:extLst>
              <a:ext uri="{FF2B5EF4-FFF2-40B4-BE49-F238E27FC236}">
                <a16:creationId xmlns:a16="http://schemas.microsoft.com/office/drawing/2014/main" id="{29E8C1CC-6771-6F02-642F-1BF0C5EA1104}"/>
              </a:ext>
            </a:extLst>
          </p:cNvPr>
          <p:cNvSpPr>
            <a:spLocks noGrp="1"/>
          </p:cNvSpPr>
          <p:nvPr>
            <p:ph type="sldNum" sz="quarter" idx="12"/>
          </p:nvPr>
        </p:nvSpPr>
        <p:spPr/>
        <p:txBody>
          <a:bodyPr/>
          <a:lstStyle/>
          <a:p>
            <a:fld id="{DCC1F92A-C6D8-4423-A6E5-606ADED483CD}" type="slidenum">
              <a:rPr lang="en-US" smtClean="0"/>
              <a:t>13</a:t>
            </a:fld>
            <a:endParaRPr lang="en-US"/>
          </a:p>
        </p:txBody>
      </p:sp>
      <p:sp>
        <p:nvSpPr>
          <p:cNvPr id="8" name="TextBox 7">
            <a:extLst>
              <a:ext uri="{FF2B5EF4-FFF2-40B4-BE49-F238E27FC236}">
                <a16:creationId xmlns:a16="http://schemas.microsoft.com/office/drawing/2014/main" id="{1AB8D319-1ABA-0B13-71A1-BD38C525ECDF}"/>
              </a:ext>
            </a:extLst>
          </p:cNvPr>
          <p:cNvSpPr txBox="1"/>
          <p:nvPr/>
        </p:nvSpPr>
        <p:spPr>
          <a:xfrm>
            <a:off x="1314738" y="2095019"/>
            <a:ext cx="9562523" cy="3662541"/>
          </a:xfrm>
          <a:prstGeom prst="rect">
            <a:avLst/>
          </a:prstGeom>
          <a:noFill/>
        </p:spPr>
        <p:txBody>
          <a:bodyPr wrap="square" rtlCol="0">
            <a:spAutoFit/>
          </a:bodyPr>
          <a:lstStyle/>
          <a:p>
            <a:pPr marL="514350" indent="-514350">
              <a:buFont typeface="+mj-lt"/>
              <a:buAutoNum type="arabicPeriod" startAt="2"/>
            </a:pPr>
            <a:r>
              <a:rPr lang="en-US" sz="2800" dirty="0"/>
              <a:t>Propose and </a:t>
            </a:r>
            <a:r>
              <a:rPr lang="en-US" sz="2800" dirty="0">
                <a:solidFill>
                  <a:schemeClr val="accent1"/>
                </a:solidFill>
              </a:rPr>
              <a:t>evaluate a model </a:t>
            </a:r>
            <a:r>
              <a:rPr lang="en-US" sz="2800" dirty="0"/>
              <a:t>that can predict housing renewals. Test the model against </a:t>
            </a:r>
            <a:r>
              <a:rPr lang="en-US" sz="2800" dirty="0">
                <a:solidFill>
                  <a:schemeClr val="accent1"/>
                </a:solidFill>
              </a:rPr>
              <a:t>baseline benchmarks </a:t>
            </a:r>
            <a:r>
              <a:rPr lang="en-US" sz="2800" dirty="0"/>
              <a:t>and apply the model on the test dataset.</a:t>
            </a:r>
          </a:p>
          <a:p>
            <a:pPr marL="514350" indent="-514350">
              <a:buFont typeface="+mj-lt"/>
              <a:buAutoNum type="arabicPeriod" startAt="2"/>
            </a:pPr>
            <a:endParaRPr lang="en-US" sz="2800" dirty="0"/>
          </a:p>
          <a:p>
            <a:pPr marL="971550" lvl="1" indent="-514350">
              <a:buFont typeface="+mj-lt"/>
              <a:buAutoNum type="arabicPeriod"/>
            </a:pPr>
            <a:r>
              <a:rPr lang="en-US" sz="2000" dirty="0"/>
              <a:t>Determine a metric for accuracy (hit-rate and AUC) to be calculated using k-fold cross validation.</a:t>
            </a:r>
          </a:p>
          <a:p>
            <a:pPr marL="971550" lvl="1" indent="-514350">
              <a:buFont typeface="+mj-lt"/>
              <a:buAutoNum type="arabicPeriod"/>
            </a:pPr>
            <a:r>
              <a:rPr lang="en-US" sz="2000" dirty="0"/>
              <a:t>Use Gradient Boosted Classifier models and optimize the hyperparameters and determine which features are most important.</a:t>
            </a:r>
          </a:p>
          <a:p>
            <a:pPr marL="971550" lvl="1" indent="-514350">
              <a:buFont typeface="+mj-lt"/>
              <a:buAutoNum type="arabicPeriod"/>
            </a:pPr>
            <a:r>
              <a:rPr lang="en-US" sz="2000" dirty="0"/>
              <a:t>Develop a set of test models to compare against</a:t>
            </a:r>
          </a:p>
          <a:p>
            <a:pPr marL="971550" lvl="1" indent="-514350">
              <a:buFont typeface="+mj-lt"/>
              <a:buAutoNum type="arabicPeriod"/>
            </a:pPr>
            <a:r>
              <a:rPr lang="en-US" sz="2000" dirty="0"/>
              <a:t>Analyze model accuracy and feature importance.</a:t>
            </a:r>
            <a:endParaRPr lang="en-US" sz="2800" dirty="0"/>
          </a:p>
        </p:txBody>
      </p:sp>
    </p:spTree>
    <p:extLst>
      <p:ext uri="{BB962C8B-B14F-4D97-AF65-F5344CB8AC3E}">
        <p14:creationId xmlns:p14="http://schemas.microsoft.com/office/powerpoint/2010/main" val="677450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6E12B-71C6-489C-E6D0-8D9099F3792D}"/>
              </a:ext>
            </a:extLst>
          </p:cNvPr>
          <p:cNvSpPr>
            <a:spLocks noGrp="1"/>
          </p:cNvSpPr>
          <p:nvPr>
            <p:ph type="title"/>
          </p:nvPr>
        </p:nvSpPr>
        <p:spPr/>
        <p:txBody>
          <a:bodyPr/>
          <a:lstStyle/>
          <a:p>
            <a:r>
              <a:rPr lang="en-US" dirty="0"/>
              <a:t>2 – Model Development</a:t>
            </a:r>
          </a:p>
        </p:txBody>
      </p:sp>
      <p:sp>
        <p:nvSpPr>
          <p:cNvPr id="4" name="Slide Number Placeholder 3">
            <a:extLst>
              <a:ext uri="{FF2B5EF4-FFF2-40B4-BE49-F238E27FC236}">
                <a16:creationId xmlns:a16="http://schemas.microsoft.com/office/drawing/2014/main" id="{462125DF-02A3-CDA2-C9E8-791D60EBC807}"/>
              </a:ext>
            </a:extLst>
          </p:cNvPr>
          <p:cNvSpPr>
            <a:spLocks noGrp="1"/>
          </p:cNvSpPr>
          <p:nvPr>
            <p:ph type="sldNum" sz="quarter" idx="12"/>
          </p:nvPr>
        </p:nvSpPr>
        <p:spPr/>
        <p:txBody>
          <a:bodyPr/>
          <a:lstStyle/>
          <a:p>
            <a:fld id="{DCC1F92A-C6D8-4423-A6E5-606ADED483CD}" type="slidenum">
              <a:rPr lang="en-US" smtClean="0"/>
              <a:t>14</a:t>
            </a:fld>
            <a:endParaRPr lang="en-US"/>
          </a:p>
        </p:txBody>
      </p:sp>
      <p:sp>
        <p:nvSpPr>
          <p:cNvPr id="7" name="TextBox 6">
            <a:extLst>
              <a:ext uri="{FF2B5EF4-FFF2-40B4-BE49-F238E27FC236}">
                <a16:creationId xmlns:a16="http://schemas.microsoft.com/office/drawing/2014/main" id="{B2B96998-3275-22DB-EDBA-B346FB6C5401}"/>
              </a:ext>
            </a:extLst>
          </p:cNvPr>
          <p:cNvSpPr txBox="1"/>
          <p:nvPr/>
        </p:nvSpPr>
        <p:spPr>
          <a:xfrm>
            <a:off x="1097280" y="2667411"/>
            <a:ext cx="10058400" cy="2862322"/>
          </a:xfrm>
          <a:prstGeom prst="rect">
            <a:avLst/>
          </a:prstGeom>
          <a:noFill/>
        </p:spPr>
        <p:txBody>
          <a:bodyPr wrap="square" rtlCol="0">
            <a:spAutoFit/>
          </a:bodyPr>
          <a:lstStyle/>
          <a:p>
            <a:r>
              <a:rPr lang="en-US" b="0" dirty="0" err="1">
                <a:effectLst/>
                <a:latin typeface="Menlo" panose="020B0609030804020204" pitchFamily="49" charset="0"/>
              </a:rPr>
              <a:t>init_features</a:t>
            </a:r>
            <a:r>
              <a:rPr lang="en-US" b="0" dirty="0">
                <a:effectLst/>
                <a:latin typeface="Menlo" panose="020B0609030804020204" pitchFamily="49" charset="0"/>
              </a:rPr>
              <a:t> = ['age', '</a:t>
            </a:r>
            <a:r>
              <a:rPr lang="en-US" b="0" dirty="0" err="1">
                <a:effectLst/>
                <a:latin typeface="Menlo" panose="020B0609030804020204" pitchFamily="49" charset="0"/>
              </a:rPr>
              <a:t>pet_details</a:t>
            </a:r>
            <a:r>
              <a:rPr lang="en-US" b="0" dirty="0">
                <a:effectLst/>
                <a:latin typeface="Menlo" panose="020B0609030804020204" pitchFamily="49" charset="0"/>
              </a:rPr>
              <a:t>', '</a:t>
            </a:r>
            <a:r>
              <a:rPr lang="en-US" b="0" dirty="0" err="1">
                <a:effectLst/>
                <a:latin typeface="Menlo" panose="020B0609030804020204" pitchFamily="49" charset="0"/>
              </a:rPr>
              <a:t>ADA_support</a:t>
            </a:r>
            <a:r>
              <a:rPr lang="en-US" b="0" dirty="0">
                <a:effectLst/>
                <a:latin typeface="Menlo" panose="020B0609030804020204" pitchFamily="49" charset="0"/>
              </a:rPr>
              <a:t>', '</a:t>
            </a:r>
            <a:r>
              <a:rPr lang="en-US" b="0" dirty="0" err="1">
                <a:effectLst/>
                <a:latin typeface="Menlo" panose="020B0609030804020204" pitchFamily="49" charset="0"/>
              </a:rPr>
              <a:t>newsletter_opt_in</a:t>
            </a:r>
            <a:r>
              <a:rPr lang="en-US" b="0" dirty="0">
                <a:effectLst/>
                <a:latin typeface="Menlo" panose="020B0609030804020204" pitchFamily="49" charset="0"/>
              </a:rPr>
              <a:t>',</a:t>
            </a:r>
          </a:p>
          <a:p>
            <a:r>
              <a:rPr lang="en-US" b="0" dirty="0">
                <a:effectLst/>
                <a:latin typeface="Menlo" panose="020B0609030804020204" pitchFamily="49" charset="0"/>
              </a:rPr>
              <a:t>'</a:t>
            </a:r>
            <a:r>
              <a:rPr lang="en-US" b="0" dirty="0" err="1">
                <a:effectLst/>
                <a:latin typeface="Menlo" panose="020B0609030804020204" pitchFamily="49" charset="0"/>
              </a:rPr>
              <a:t>monthly_rent</a:t>
            </a:r>
            <a:r>
              <a:rPr lang="en-US" b="0" dirty="0">
                <a:effectLst/>
                <a:latin typeface="Menlo" panose="020B0609030804020204" pitchFamily="49" charset="0"/>
              </a:rPr>
              <a:t>', '</a:t>
            </a:r>
            <a:r>
              <a:rPr lang="en-US" b="0" dirty="0" err="1">
                <a:effectLst/>
                <a:latin typeface="Menlo" panose="020B0609030804020204" pitchFamily="49" charset="0"/>
              </a:rPr>
              <a:t>percent_rent_diff</a:t>
            </a:r>
            <a:r>
              <a:rPr lang="en-US" b="0" dirty="0">
                <a:effectLst/>
                <a:latin typeface="Menlo" panose="020B0609030804020204" pitchFamily="49" charset="0"/>
              </a:rPr>
              <a:t>', '</a:t>
            </a:r>
            <a:r>
              <a:rPr lang="en-US" b="0" dirty="0" err="1">
                <a:effectLst/>
                <a:latin typeface="Menlo" panose="020B0609030804020204" pitchFamily="49" charset="0"/>
              </a:rPr>
              <a:t>msg_count</a:t>
            </a:r>
            <a:r>
              <a:rPr lang="en-US" b="0" dirty="0">
                <a:effectLst/>
                <a:latin typeface="Menlo" panose="020B0609030804020204" pitchFamily="49" charset="0"/>
              </a:rPr>
              <a:t>', </a:t>
            </a:r>
          </a:p>
          <a:p>
            <a:r>
              <a:rPr lang="en-US" b="0" dirty="0">
                <a:effectLst/>
                <a:latin typeface="Menlo" panose="020B0609030804020204" pitchFamily="49" charset="0"/>
              </a:rPr>
              <a:t>'</a:t>
            </a:r>
            <a:r>
              <a:rPr lang="en-US" b="0" dirty="0" err="1">
                <a:effectLst/>
                <a:latin typeface="Menlo" panose="020B0609030804020204" pitchFamily="49" charset="0"/>
              </a:rPr>
              <a:t>number_of_requests</a:t>
            </a:r>
            <a:r>
              <a:rPr lang="en-US" b="0" dirty="0">
                <a:effectLst/>
                <a:latin typeface="Menlo" panose="020B0609030804020204" pitchFamily="49" charset="0"/>
              </a:rPr>
              <a:t>', '</a:t>
            </a:r>
            <a:r>
              <a:rPr lang="en-US" b="0" dirty="0" err="1">
                <a:effectLst/>
                <a:latin typeface="Menlo" panose="020B0609030804020204" pitchFamily="49" charset="0"/>
              </a:rPr>
              <a:t>percent_completion</a:t>
            </a:r>
            <a:r>
              <a:rPr lang="en-US" b="0" dirty="0">
                <a:effectLst/>
                <a:latin typeface="Menlo" panose="020B0609030804020204" pitchFamily="49" charset="0"/>
              </a:rPr>
              <a:t>', </a:t>
            </a:r>
          </a:p>
          <a:p>
            <a:r>
              <a:rPr lang="en-US" b="0" dirty="0">
                <a:effectLst/>
                <a:latin typeface="Menlo" panose="020B0609030804020204" pitchFamily="49" charset="0"/>
              </a:rPr>
              <a:t>'</a:t>
            </a:r>
            <a:r>
              <a:rPr lang="en-US" b="0" dirty="0" err="1">
                <a:effectLst/>
                <a:latin typeface="Menlo" panose="020B0609030804020204" pitchFamily="49" charset="0"/>
              </a:rPr>
              <a:t>occupancy_count</a:t>
            </a:r>
            <a:r>
              <a:rPr lang="en-US" b="0" dirty="0">
                <a:effectLst/>
                <a:latin typeface="Menlo" panose="020B0609030804020204" pitchFamily="49" charset="0"/>
              </a:rPr>
              <a:t>', '</a:t>
            </a:r>
            <a:r>
              <a:rPr lang="en-US" b="0" dirty="0" err="1">
                <a:effectLst/>
                <a:latin typeface="Menlo" panose="020B0609030804020204" pitchFamily="49" charset="0"/>
              </a:rPr>
              <a:t>avg_completion_time</a:t>
            </a:r>
            <a:r>
              <a:rPr lang="en-US" b="0" dirty="0">
                <a:effectLst/>
                <a:latin typeface="Menlo" panose="020B0609030804020204" pitchFamily="49" charset="0"/>
              </a:rPr>
              <a:t>', </a:t>
            </a:r>
          </a:p>
          <a:p>
            <a:r>
              <a:rPr lang="en-US" b="0" dirty="0">
                <a:effectLst/>
                <a:latin typeface="Menlo" panose="020B0609030804020204" pitchFamily="49" charset="0"/>
              </a:rPr>
              <a:t>'</a:t>
            </a:r>
            <a:r>
              <a:rPr lang="en-US" b="0" dirty="0" err="1">
                <a:effectLst/>
                <a:latin typeface="Menlo" panose="020B0609030804020204" pitchFamily="49" charset="0"/>
              </a:rPr>
              <a:t>avg_completion_diff</a:t>
            </a:r>
            <a:r>
              <a:rPr lang="en-US" b="0" dirty="0">
                <a:effectLst/>
                <a:latin typeface="Menlo" panose="020B0609030804020204" pitchFamily="49" charset="0"/>
              </a:rPr>
              <a:t>', '</a:t>
            </a:r>
            <a:r>
              <a:rPr lang="en-US" b="0" dirty="0" err="1">
                <a:effectLst/>
                <a:latin typeface="Menlo" panose="020B0609030804020204" pitchFamily="49" charset="0"/>
              </a:rPr>
              <a:t>lease_length</a:t>
            </a:r>
            <a:r>
              <a:rPr lang="en-US" b="0" dirty="0">
                <a:effectLst/>
                <a:latin typeface="Menlo" panose="020B0609030804020204" pitchFamily="49" charset="0"/>
              </a:rPr>
              <a:t>', </a:t>
            </a:r>
          </a:p>
          <a:p>
            <a:r>
              <a:rPr lang="en-US" b="0" dirty="0">
                <a:effectLst/>
                <a:latin typeface="Menlo" panose="020B0609030804020204" pitchFamily="49" charset="0"/>
              </a:rPr>
              <a:t>'</a:t>
            </a:r>
            <a:r>
              <a:rPr lang="en-US" b="0" dirty="0" err="1">
                <a:effectLst/>
                <a:latin typeface="Menlo" panose="020B0609030804020204" pitchFamily="49" charset="0"/>
              </a:rPr>
              <a:t>lease_renew_window</a:t>
            </a:r>
            <a:r>
              <a:rPr lang="en-US" b="0" dirty="0">
                <a:effectLst/>
                <a:latin typeface="Menlo" panose="020B0609030804020204" pitchFamily="49" charset="0"/>
              </a:rPr>
              <a:t>',</a:t>
            </a:r>
          </a:p>
          <a:p>
            <a:r>
              <a:rPr lang="en-US" b="0" dirty="0">
                <a:effectLst/>
                <a:latin typeface="Menlo" panose="020B0609030804020204" pitchFamily="49" charset="0"/>
              </a:rPr>
              <a:t>'</a:t>
            </a:r>
            <a:r>
              <a:rPr lang="en-US" b="0" dirty="0" err="1">
                <a:effectLst/>
                <a:latin typeface="Menlo" panose="020B0609030804020204" pitchFamily="49" charset="0"/>
              </a:rPr>
              <a:t>referral_craigslist</a:t>
            </a:r>
            <a:r>
              <a:rPr lang="en-US" b="0" dirty="0">
                <a:effectLst/>
                <a:latin typeface="Menlo" panose="020B0609030804020204" pitchFamily="49" charset="0"/>
              </a:rPr>
              <a:t>', '</a:t>
            </a:r>
            <a:r>
              <a:rPr lang="en-US" b="0" dirty="0" err="1">
                <a:effectLst/>
                <a:latin typeface="Menlo" panose="020B0609030804020204" pitchFamily="49" charset="0"/>
              </a:rPr>
              <a:t>referral_ex</a:t>
            </a:r>
            <a:r>
              <a:rPr lang="en-US" b="0" dirty="0">
                <a:effectLst/>
                <a:latin typeface="Menlo" panose="020B0609030804020204" pitchFamily="49" charset="0"/>
              </a:rPr>
              <a:t>-resident',</a:t>
            </a:r>
          </a:p>
          <a:p>
            <a:r>
              <a:rPr lang="en-US" b="0" dirty="0">
                <a:effectLst/>
                <a:latin typeface="Menlo" panose="020B0609030804020204" pitchFamily="49" charset="0"/>
              </a:rPr>
              <a:t>'</a:t>
            </a:r>
            <a:r>
              <a:rPr lang="en-US" b="0" dirty="0" err="1">
                <a:effectLst/>
                <a:latin typeface="Menlo" panose="020B0609030804020204" pitchFamily="49" charset="0"/>
              </a:rPr>
              <a:t>referral_facebook</a:t>
            </a:r>
            <a:r>
              <a:rPr lang="en-US" b="0" dirty="0">
                <a:effectLst/>
                <a:latin typeface="Menlo" panose="020B0609030804020204" pitchFamily="49" charset="0"/>
              </a:rPr>
              <a:t>', '</a:t>
            </a:r>
            <a:r>
              <a:rPr lang="en-US" b="0" dirty="0" err="1">
                <a:effectLst/>
                <a:latin typeface="Menlo" panose="020B0609030804020204" pitchFamily="49" charset="0"/>
              </a:rPr>
              <a:t>referral_resident</a:t>
            </a:r>
            <a:r>
              <a:rPr lang="en-US" b="0" dirty="0">
                <a:effectLst/>
                <a:latin typeface="Menlo" panose="020B0609030804020204" pitchFamily="49" charset="0"/>
              </a:rPr>
              <a:t>', '</a:t>
            </a:r>
            <a:r>
              <a:rPr lang="en-US" b="0" dirty="0" err="1">
                <a:effectLst/>
                <a:latin typeface="Menlo" panose="020B0609030804020204" pitchFamily="49" charset="0"/>
              </a:rPr>
              <a:t>referral_walk</a:t>
            </a:r>
            <a:r>
              <a:rPr lang="en-US" b="0" dirty="0">
                <a:effectLst/>
                <a:latin typeface="Menlo" panose="020B0609030804020204" pitchFamily="49" charset="0"/>
              </a:rPr>
              <a:t>-in',</a:t>
            </a:r>
          </a:p>
          <a:p>
            <a:r>
              <a:rPr lang="en-US" b="0" dirty="0">
                <a:effectLst/>
                <a:latin typeface="Menlo" panose="020B0609030804020204" pitchFamily="49" charset="0"/>
              </a:rPr>
              <a:t>'</a:t>
            </a:r>
            <a:r>
              <a:rPr lang="en-US" b="0" dirty="0" err="1">
                <a:effectLst/>
                <a:latin typeface="Menlo" panose="020B0609030804020204" pitchFamily="49" charset="0"/>
              </a:rPr>
              <a:t>referral_zillow</a:t>
            </a:r>
            <a:r>
              <a:rPr lang="en-US" b="0" dirty="0">
                <a:effectLst/>
                <a:latin typeface="Menlo" panose="020B0609030804020204" pitchFamily="49" charset="0"/>
              </a:rPr>
              <a:t>', '</a:t>
            </a:r>
            <a:r>
              <a:rPr lang="en-US" b="0" dirty="0" err="1">
                <a:effectLst/>
                <a:latin typeface="Menlo" panose="020B0609030804020204" pitchFamily="49" charset="0"/>
              </a:rPr>
              <a:t>referral_None</a:t>
            </a:r>
            <a:r>
              <a:rPr lang="en-US" b="0" dirty="0">
                <a:effectLst/>
                <a:latin typeface="Menlo" panose="020B0609030804020204" pitchFamily="49" charset="0"/>
              </a:rPr>
              <a:t>']</a:t>
            </a:r>
          </a:p>
        </p:txBody>
      </p:sp>
      <p:sp>
        <p:nvSpPr>
          <p:cNvPr id="11" name="TextBox 10">
            <a:extLst>
              <a:ext uri="{FF2B5EF4-FFF2-40B4-BE49-F238E27FC236}">
                <a16:creationId xmlns:a16="http://schemas.microsoft.com/office/drawing/2014/main" id="{77C100AC-9995-68EB-EAAC-C65BAC1DDC33}"/>
              </a:ext>
            </a:extLst>
          </p:cNvPr>
          <p:cNvSpPr txBox="1"/>
          <p:nvPr/>
        </p:nvSpPr>
        <p:spPr>
          <a:xfrm>
            <a:off x="1097280" y="2017719"/>
            <a:ext cx="3632726" cy="369332"/>
          </a:xfrm>
          <a:prstGeom prst="rect">
            <a:avLst/>
          </a:prstGeom>
          <a:noFill/>
        </p:spPr>
        <p:txBody>
          <a:bodyPr wrap="none" rtlCol="0">
            <a:spAutoFit/>
          </a:bodyPr>
          <a:lstStyle/>
          <a:p>
            <a:r>
              <a:rPr lang="en-US" dirty="0"/>
              <a:t>Initial features that we examine</a:t>
            </a:r>
          </a:p>
        </p:txBody>
      </p:sp>
    </p:spTree>
    <p:extLst>
      <p:ext uri="{BB962C8B-B14F-4D97-AF65-F5344CB8AC3E}">
        <p14:creationId xmlns:p14="http://schemas.microsoft.com/office/powerpoint/2010/main" val="1425067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6E12B-71C6-489C-E6D0-8D9099F3792D}"/>
              </a:ext>
            </a:extLst>
          </p:cNvPr>
          <p:cNvSpPr>
            <a:spLocks noGrp="1"/>
          </p:cNvSpPr>
          <p:nvPr>
            <p:ph type="title"/>
          </p:nvPr>
        </p:nvSpPr>
        <p:spPr/>
        <p:txBody>
          <a:bodyPr/>
          <a:lstStyle/>
          <a:p>
            <a:r>
              <a:rPr lang="en-US" dirty="0"/>
              <a:t>2 – Model Development</a:t>
            </a:r>
          </a:p>
        </p:txBody>
      </p:sp>
      <p:sp>
        <p:nvSpPr>
          <p:cNvPr id="4" name="Slide Number Placeholder 3">
            <a:extLst>
              <a:ext uri="{FF2B5EF4-FFF2-40B4-BE49-F238E27FC236}">
                <a16:creationId xmlns:a16="http://schemas.microsoft.com/office/drawing/2014/main" id="{462125DF-02A3-CDA2-C9E8-791D60EBC807}"/>
              </a:ext>
            </a:extLst>
          </p:cNvPr>
          <p:cNvSpPr>
            <a:spLocks noGrp="1"/>
          </p:cNvSpPr>
          <p:nvPr>
            <p:ph type="sldNum" sz="quarter" idx="12"/>
          </p:nvPr>
        </p:nvSpPr>
        <p:spPr/>
        <p:txBody>
          <a:bodyPr/>
          <a:lstStyle/>
          <a:p>
            <a:fld id="{DCC1F92A-C6D8-4423-A6E5-606ADED483CD}" type="slidenum">
              <a:rPr lang="en-US" smtClean="0"/>
              <a:t>15</a:t>
            </a:fld>
            <a:endParaRPr lang="en-US"/>
          </a:p>
        </p:txBody>
      </p:sp>
      <p:sp>
        <p:nvSpPr>
          <p:cNvPr id="7" name="TextBox 6">
            <a:extLst>
              <a:ext uri="{FF2B5EF4-FFF2-40B4-BE49-F238E27FC236}">
                <a16:creationId xmlns:a16="http://schemas.microsoft.com/office/drawing/2014/main" id="{B2B96998-3275-22DB-EDBA-B346FB6C5401}"/>
              </a:ext>
            </a:extLst>
          </p:cNvPr>
          <p:cNvSpPr txBox="1"/>
          <p:nvPr/>
        </p:nvSpPr>
        <p:spPr>
          <a:xfrm>
            <a:off x="1097280" y="1882580"/>
            <a:ext cx="4789055" cy="2308324"/>
          </a:xfrm>
          <a:prstGeom prst="rect">
            <a:avLst/>
          </a:prstGeom>
          <a:noFill/>
        </p:spPr>
        <p:txBody>
          <a:bodyPr wrap="square" rtlCol="0">
            <a:spAutoFit/>
          </a:bodyPr>
          <a:lstStyle/>
          <a:p>
            <a:pPr algn="ctr"/>
            <a:r>
              <a:rPr lang="en-US" dirty="0"/>
              <a:t>Accuracy determined through 5-fold cross validation on training data. Accuracy scores are determined using two metrics.</a:t>
            </a:r>
          </a:p>
          <a:p>
            <a:pPr marL="342900" indent="-342900" algn="ctr">
              <a:buFont typeface="+mj-lt"/>
              <a:buAutoNum type="arabicPeriod"/>
            </a:pPr>
            <a:r>
              <a:rPr lang="en-US" dirty="0"/>
              <a:t>Hit-Rate (Used for hyperparameter optimization)</a:t>
            </a:r>
          </a:p>
          <a:p>
            <a:pPr marL="342900" indent="-342900" algn="ctr">
              <a:buFont typeface="+mj-lt"/>
              <a:buAutoNum type="arabicPeriod"/>
            </a:pPr>
            <a:r>
              <a:rPr lang="en-US" dirty="0"/>
              <a:t>Area Under the Curve (AUC) – Demonstrates the accuracy of the model itself.</a:t>
            </a:r>
          </a:p>
        </p:txBody>
      </p:sp>
      <p:sp>
        <p:nvSpPr>
          <p:cNvPr id="8" name="TextBox 7">
            <a:extLst>
              <a:ext uri="{FF2B5EF4-FFF2-40B4-BE49-F238E27FC236}">
                <a16:creationId xmlns:a16="http://schemas.microsoft.com/office/drawing/2014/main" id="{D002CD37-4050-ADD2-ED9B-52F6A3B51D4F}"/>
              </a:ext>
            </a:extLst>
          </p:cNvPr>
          <p:cNvSpPr txBox="1"/>
          <p:nvPr/>
        </p:nvSpPr>
        <p:spPr>
          <a:xfrm>
            <a:off x="1097280" y="4459968"/>
            <a:ext cx="4789054" cy="1200329"/>
          </a:xfrm>
          <a:prstGeom prst="rect">
            <a:avLst/>
          </a:prstGeom>
          <a:noFill/>
        </p:spPr>
        <p:txBody>
          <a:bodyPr wrap="square" rtlCol="0">
            <a:spAutoFit/>
          </a:bodyPr>
          <a:lstStyle/>
          <a:p>
            <a:pPr algn="ctr"/>
            <a:r>
              <a:rPr lang="en-US" dirty="0"/>
              <a:t>Feature importance determined using permutation importance. Features that are not important are dropped from the feature set.</a:t>
            </a:r>
          </a:p>
        </p:txBody>
      </p:sp>
      <p:sp>
        <p:nvSpPr>
          <p:cNvPr id="10" name="TextBox 9">
            <a:extLst>
              <a:ext uri="{FF2B5EF4-FFF2-40B4-BE49-F238E27FC236}">
                <a16:creationId xmlns:a16="http://schemas.microsoft.com/office/drawing/2014/main" id="{EE9E3B0F-6355-A04B-E61E-856D06C660FE}"/>
              </a:ext>
            </a:extLst>
          </p:cNvPr>
          <p:cNvSpPr txBox="1"/>
          <p:nvPr/>
        </p:nvSpPr>
        <p:spPr>
          <a:xfrm>
            <a:off x="6751781" y="1882580"/>
            <a:ext cx="4202546" cy="4662815"/>
          </a:xfrm>
          <a:prstGeom prst="rect">
            <a:avLst/>
          </a:prstGeom>
          <a:noFill/>
        </p:spPr>
        <p:txBody>
          <a:bodyPr wrap="square">
            <a:spAutoFit/>
          </a:bodyPr>
          <a:lstStyle/>
          <a:p>
            <a:r>
              <a:rPr lang="en-US" sz="1100" b="0" i="0" dirty="0">
                <a:effectLst/>
                <a:latin typeface="Menlo" panose="020B0609030804020204" pitchFamily="49" charset="0"/>
              </a:rPr>
              <a:t>--- Features with High </a:t>
            </a:r>
            <a:r>
              <a:rPr lang="en-US" sz="1100" b="0" i="0" dirty="0" err="1">
                <a:effectLst/>
                <a:latin typeface="Menlo" panose="020B0609030804020204" pitchFamily="49" charset="0"/>
              </a:rPr>
              <a:t>Colinearity</a:t>
            </a:r>
            <a:r>
              <a:rPr lang="en-US" sz="1100" b="0" i="0" dirty="0">
                <a:effectLst/>
                <a:latin typeface="Menlo" panose="020B0609030804020204" pitchFamily="49" charset="0"/>
              </a:rPr>
              <a:t> --- </a:t>
            </a:r>
          </a:p>
          <a:p>
            <a:r>
              <a:rPr lang="en-US" sz="1100" b="0" i="0" dirty="0" err="1">
                <a:effectLst/>
                <a:latin typeface="Menlo" panose="020B0609030804020204" pitchFamily="49" charset="0"/>
              </a:rPr>
              <a:t>msg_count</a:t>
            </a:r>
            <a:r>
              <a:rPr lang="en-US" sz="1100" b="0" i="0" dirty="0">
                <a:effectLst/>
                <a:latin typeface="Menlo" panose="020B0609030804020204" pitchFamily="49" charset="0"/>
              </a:rPr>
              <a:t> </a:t>
            </a:r>
          </a:p>
          <a:p>
            <a:r>
              <a:rPr lang="en-US" sz="1100" b="0" i="0" dirty="0" err="1">
                <a:effectLst/>
                <a:latin typeface="Menlo" panose="020B0609030804020204" pitchFamily="49" charset="0"/>
              </a:rPr>
              <a:t>occupancy_count</a:t>
            </a:r>
            <a:r>
              <a:rPr lang="en-US" sz="1100" b="0" i="0" dirty="0">
                <a:effectLst/>
                <a:latin typeface="Menlo" panose="020B0609030804020204" pitchFamily="49" charset="0"/>
              </a:rPr>
              <a:t> </a:t>
            </a:r>
          </a:p>
          <a:p>
            <a:r>
              <a:rPr lang="en-US" sz="1100" b="0" i="0" dirty="0">
                <a:effectLst/>
                <a:latin typeface="Menlo" panose="020B0609030804020204" pitchFamily="49" charset="0"/>
              </a:rPr>
              <a:t>--- Importance Scores --- </a:t>
            </a:r>
          </a:p>
          <a:p>
            <a:pPr algn="l"/>
            <a:r>
              <a:rPr lang="en-US" sz="1100" b="0" i="0" dirty="0">
                <a:effectLst/>
                <a:latin typeface="Menlo" panose="020B0609030804020204" pitchFamily="49" charset="0"/>
              </a:rPr>
              <a:t>age: 0.1500 </a:t>
            </a:r>
          </a:p>
          <a:p>
            <a:pPr algn="l"/>
            <a:r>
              <a:rPr lang="en-US" sz="1100" b="0" i="0" dirty="0" err="1">
                <a:effectLst/>
                <a:latin typeface="Menlo" panose="020B0609030804020204" pitchFamily="49" charset="0"/>
              </a:rPr>
              <a:t>pet_details</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ADA_support</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newsletter_opt_in</a:t>
            </a:r>
            <a:r>
              <a:rPr lang="en-US" sz="1100" b="0" i="0" dirty="0">
                <a:effectLst/>
                <a:latin typeface="Menlo" panose="020B0609030804020204" pitchFamily="49" charset="0"/>
              </a:rPr>
              <a:t>: 0.0283 </a:t>
            </a:r>
          </a:p>
          <a:p>
            <a:pPr algn="l"/>
            <a:r>
              <a:rPr lang="en-US" sz="1100" b="0" i="0" dirty="0" err="1">
                <a:effectLst/>
                <a:latin typeface="Menlo" panose="020B0609030804020204" pitchFamily="49" charset="0"/>
              </a:rPr>
              <a:t>monthly_rent</a:t>
            </a:r>
            <a:r>
              <a:rPr lang="en-US" sz="1100" b="0" i="0" dirty="0">
                <a:effectLst/>
                <a:latin typeface="Menlo" panose="020B0609030804020204" pitchFamily="49" charset="0"/>
              </a:rPr>
              <a:t>: 0.0043 </a:t>
            </a:r>
          </a:p>
          <a:p>
            <a:pPr algn="l"/>
            <a:r>
              <a:rPr lang="en-US" sz="1100" b="0" i="0" dirty="0" err="1">
                <a:effectLst/>
                <a:latin typeface="Menlo" panose="020B0609030804020204" pitchFamily="49" charset="0"/>
              </a:rPr>
              <a:t>percent_rent_diff</a:t>
            </a:r>
            <a:r>
              <a:rPr lang="en-US" sz="1100" b="0" i="0" dirty="0">
                <a:effectLst/>
                <a:latin typeface="Menlo" panose="020B0609030804020204" pitchFamily="49" charset="0"/>
              </a:rPr>
              <a:t>: 0.1543 </a:t>
            </a:r>
          </a:p>
          <a:p>
            <a:pPr algn="l"/>
            <a:r>
              <a:rPr lang="en-US" sz="1100" b="0" i="0" dirty="0" err="1">
                <a:effectLst/>
                <a:latin typeface="Menlo" panose="020B0609030804020204" pitchFamily="49" charset="0"/>
              </a:rPr>
              <a:t>msg_count</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number_of_requests</a:t>
            </a:r>
            <a:r>
              <a:rPr lang="en-US" sz="1100" b="0" i="0" dirty="0">
                <a:effectLst/>
                <a:latin typeface="Menlo" panose="020B0609030804020204" pitchFamily="49" charset="0"/>
              </a:rPr>
              <a:t>: 0.2304 </a:t>
            </a:r>
          </a:p>
          <a:p>
            <a:pPr algn="l"/>
            <a:r>
              <a:rPr lang="en-US" sz="1100" b="0" i="0" dirty="0" err="1">
                <a:effectLst/>
                <a:latin typeface="Menlo" panose="020B0609030804020204" pitchFamily="49" charset="0"/>
              </a:rPr>
              <a:t>percent_completion</a:t>
            </a:r>
            <a:r>
              <a:rPr lang="en-US" sz="1100" b="0" i="0" dirty="0">
                <a:effectLst/>
                <a:latin typeface="Menlo" panose="020B0609030804020204" pitchFamily="49" charset="0"/>
              </a:rPr>
              <a:t>: 0.0043 </a:t>
            </a:r>
          </a:p>
          <a:p>
            <a:pPr algn="l"/>
            <a:r>
              <a:rPr lang="en-US" sz="1100" b="0" i="0" dirty="0" err="1">
                <a:effectLst/>
                <a:latin typeface="Menlo" panose="020B0609030804020204" pitchFamily="49" charset="0"/>
              </a:rPr>
              <a:t>occupancy_count</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avg_completion_time</a:t>
            </a:r>
            <a:r>
              <a:rPr lang="en-US" sz="1100" b="0" i="0" dirty="0">
                <a:effectLst/>
                <a:latin typeface="Menlo" panose="020B0609030804020204" pitchFamily="49" charset="0"/>
              </a:rPr>
              <a:t>: 0.0087 </a:t>
            </a:r>
          </a:p>
          <a:p>
            <a:pPr algn="l"/>
            <a:r>
              <a:rPr lang="en-US" sz="1100" b="0" i="0" dirty="0" err="1">
                <a:effectLst/>
                <a:latin typeface="Menlo" panose="020B0609030804020204" pitchFamily="49" charset="0"/>
              </a:rPr>
              <a:t>avg_completion_diff</a:t>
            </a:r>
            <a:r>
              <a:rPr lang="en-US" sz="1100" b="0" i="0" dirty="0">
                <a:effectLst/>
                <a:latin typeface="Menlo" panose="020B0609030804020204" pitchFamily="49" charset="0"/>
              </a:rPr>
              <a:t>: 0.0109 </a:t>
            </a:r>
          </a:p>
          <a:p>
            <a:pPr algn="l"/>
            <a:r>
              <a:rPr lang="en-US" sz="1100" b="0" i="0" dirty="0" err="1">
                <a:effectLst/>
                <a:latin typeface="Menlo" panose="020B0609030804020204" pitchFamily="49" charset="0"/>
              </a:rPr>
              <a:t>lease_length</a:t>
            </a:r>
            <a:r>
              <a:rPr lang="en-US" sz="1100" b="0" i="0" dirty="0">
                <a:effectLst/>
                <a:latin typeface="Menlo" panose="020B0609030804020204" pitchFamily="49" charset="0"/>
              </a:rPr>
              <a:t>: 0.0848 </a:t>
            </a:r>
          </a:p>
          <a:p>
            <a:pPr algn="l"/>
            <a:r>
              <a:rPr lang="en-US" sz="1100" b="0" i="0" dirty="0" err="1">
                <a:effectLst/>
                <a:latin typeface="Menlo" panose="020B0609030804020204" pitchFamily="49" charset="0"/>
              </a:rPr>
              <a:t>lease_renew_window</a:t>
            </a:r>
            <a:r>
              <a:rPr lang="en-US" sz="1100" b="0" i="0" dirty="0">
                <a:effectLst/>
                <a:latin typeface="Menlo" panose="020B0609030804020204" pitchFamily="49" charset="0"/>
              </a:rPr>
              <a:t>: 0.0022 </a:t>
            </a:r>
          </a:p>
          <a:p>
            <a:pPr algn="l"/>
            <a:r>
              <a:rPr lang="en-US" sz="1100" b="0" i="0" dirty="0" err="1">
                <a:effectLst/>
                <a:latin typeface="Menlo" panose="020B0609030804020204" pitchFamily="49" charset="0"/>
              </a:rPr>
              <a:t>referral_craigslist</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referral_ex</a:t>
            </a:r>
            <a:r>
              <a:rPr lang="en-US" sz="1100" b="0" i="0" dirty="0">
                <a:effectLst/>
                <a:latin typeface="Menlo" panose="020B0609030804020204" pitchFamily="49" charset="0"/>
              </a:rPr>
              <a:t>-resident: 0.0000 - DISCARDED </a:t>
            </a:r>
          </a:p>
          <a:p>
            <a:pPr algn="l"/>
            <a:r>
              <a:rPr lang="en-US" sz="1100" b="0" i="0" dirty="0" err="1">
                <a:effectLst/>
                <a:latin typeface="Menlo" panose="020B0609030804020204" pitchFamily="49" charset="0"/>
              </a:rPr>
              <a:t>referral_facebook</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referral_resident</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referral_walk</a:t>
            </a:r>
            <a:r>
              <a:rPr lang="en-US" sz="1100" b="0" i="0" dirty="0">
                <a:effectLst/>
                <a:latin typeface="Menlo" panose="020B0609030804020204" pitchFamily="49" charset="0"/>
              </a:rPr>
              <a:t>-in: 0.0000 - DISCARDED </a:t>
            </a:r>
          </a:p>
          <a:p>
            <a:pPr algn="l"/>
            <a:r>
              <a:rPr lang="en-US" sz="1100" b="0" i="0" dirty="0" err="1">
                <a:effectLst/>
                <a:latin typeface="Menlo" panose="020B0609030804020204" pitchFamily="49" charset="0"/>
              </a:rPr>
              <a:t>referral_zillow</a:t>
            </a:r>
            <a:r>
              <a:rPr lang="en-US" sz="1100" b="0" i="0" dirty="0">
                <a:effectLst/>
                <a:latin typeface="Menlo" panose="020B0609030804020204" pitchFamily="49" charset="0"/>
              </a:rPr>
              <a:t>: 0.0000 - DISCARDED </a:t>
            </a:r>
          </a:p>
          <a:p>
            <a:pPr algn="l"/>
            <a:r>
              <a:rPr lang="en-US" sz="1100" b="0" i="0" dirty="0" err="1">
                <a:effectLst/>
                <a:latin typeface="Menlo" panose="020B0609030804020204" pitchFamily="49" charset="0"/>
              </a:rPr>
              <a:t>referral_None</a:t>
            </a:r>
            <a:r>
              <a:rPr lang="en-US" sz="1100" b="0" i="0" dirty="0">
                <a:effectLst/>
                <a:latin typeface="Menlo" panose="020B0609030804020204" pitchFamily="49" charset="0"/>
              </a:rPr>
              <a:t>: 0.0000 - DISCARDED </a:t>
            </a:r>
          </a:p>
          <a:p>
            <a:pPr algn="l"/>
            <a:br>
              <a:rPr lang="en-US" sz="1100" b="0" i="0" dirty="0">
                <a:effectLst/>
                <a:latin typeface="-apple-system"/>
              </a:rPr>
            </a:br>
            <a:endParaRPr lang="en-US" sz="1100" b="0" i="0" dirty="0">
              <a:effectLst/>
              <a:latin typeface="-apple-system"/>
            </a:endParaRPr>
          </a:p>
        </p:txBody>
      </p:sp>
    </p:spTree>
    <p:extLst>
      <p:ext uri="{BB962C8B-B14F-4D97-AF65-F5344CB8AC3E}">
        <p14:creationId xmlns:p14="http://schemas.microsoft.com/office/powerpoint/2010/main" val="1710754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6E12B-71C6-489C-E6D0-8D9099F3792D}"/>
              </a:ext>
            </a:extLst>
          </p:cNvPr>
          <p:cNvSpPr>
            <a:spLocks noGrp="1"/>
          </p:cNvSpPr>
          <p:nvPr>
            <p:ph type="title"/>
          </p:nvPr>
        </p:nvSpPr>
        <p:spPr/>
        <p:txBody>
          <a:bodyPr/>
          <a:lstStyle/>
          <a:p>
            <a:r>
              <a:rPr lang="en-US" dirty="0"/>
              <a:t>2 – Model Development</a:t>
            </a:r>
          </a:p>
        </p:txBody>
      </p:sp>
      <p:sp>
        <p:nvSpPr>
          <p:cNvPr id="3" name="Content Placeholder 2">
            <a:extLst>
              <a:ext uri="{FF2B5EF4-FFF2-40B4-BE49-F238E27FC236}">
                <a16:creationId xmlns:a16="http://schemas.microsoft.com/office/drawing/2014/main" id="{F6F29C09-360A-DB3E-9EF3-49A7C9C38149}"/>
              </a:ext>
            </a:extLst>
          </p:cNvPr>
          <p:cNvSpPr>
            <a:spLocks noGrp="1"/>
          </p:cNvSpPr>
          <p:nvPr>
            <p:ph idx="1"/>
          </p:nvPr>
        </p:nvSpPr>
        <p:spPr/>
        <p:txBody>
          <a:bodyPr/>
          <a:lstStyle/>
          <a:p>
            <a:r>
              <a:rPr lang="en-US" dirty="0"/>
              <a:t>Tabular, non-linear data is typically modeled using Gradient Boosted models. We deploy the Gradient Boosted Classifier model as implemented by scikit-learn</a:t>
            </a:r>
          </a:p>
          <a:p>
            <a:r>
              <a:rPr lang="en-US" dirty="0"/>
              <a:t>First, we optimize the hyperparameters by doing a coarse grid search over different </a:t>
            </a:r>
            <a:r>
              <a:rPr lang="en-US" dirty="0" err="1"/>
              <a:t>paramters</a:t>
            </a:r>
            <a:r>
              <a:rPr lang="en-US" dirty="0"/>
              <a:t>. The hyperparameters to be optimized and the coarse search we used are:</a:t>
            </a:r>
          </a:p>
          <a:p>
            <a:r>
              <a:rPr lang="en-US" b="0" dirty="0" err="1">
                <a:solidFill>
                  <a:srgbClr val="C9D1D9"/>
                </a:solidFill>
                <a:effectLst/>
                <a:latin typeface="Menlo" panose="020B0609030804020204" pitchFamily="49" charset="0"/>
              </a:rPr>
              <a:t>lrs</a:t>
            </a:r>
            <a:r>
              <a:rPr lang="en-US" b="0" dirty="0">
                <a:solidFill>
                  <a:srgbClr val="BBBEBF"/>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0.1</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0.05</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0.01</a:t>
            </a:r>
            <a:r>
              <a:rPr lang="en-US" b="0" dirty="0">
                <a:solidFill>
                  <a:srgbClr val="BBBEBF"/>
                </a:solidFill>
                <a:effectLst/>
                <a:latin typeface="Menlo" panose="020B0609030804020204" pitchFamily="49" charset="0"/>
              </a:rPr>
              <a:t>]</a:t>
            </a:r>
          </a:p>
          <a:p>
            <a:r>
              <a:rPr lang="en-US" b="0" dirty="0" err="1">
                <a:solidFill>
                  <a:srgbClr val="C9D1D9"/>
                </a:solidFill>
                <a:effectLst/>
                <a:latin typeface="Menlo" panose="020B0609030804020204" pitchFamily="49" charset="0"/>
              </a:rPr>
              <a:t>n_estimators</a:t>
            </a:r>
            <a:r>
              <a:rPr lang="en-US" b="0" dirty="0">
                <a:solidFill>
                  <a:srgbClr val="BBBEBF"/>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10</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100</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500</a:t>
            </a:r>
            <a:r>
              <a:rPr lang="en-US" b="0" dirty="0">
                <a:solidFill>
                  <a:srgbClr val="BBBEBF"/>
                </a:solidFill>
                <a:effectLst/>
                <a:latin typeface="Menlo" panose="020B0609030804020204" pitchFamily="49" charset="0"/>
              </a:rPr>
              <a:t>]</a:t>
            </a:r>
          </a:p>
          <a:p>
            <a:r>
              <a:rPr lang="en-US" b="0" dirty="0">
                <a:solidFill>
                  <a:srgbClr val="C9D1D9"/>
                </a:solidFill>
                <a:effectLst/>
                <a:latin typeface="Menlo" panose="020B0609030804020204" pitchFamily="49" charset="0"/>
              </a:rPr>
              <a:t>subsamples</a:t>
            </a:r>
            <a:r>
              <a:rPr lang="en-US" b="0" dirty="0">
                <a:solidFill>
                  <a:srgbClr val="BBBEBF"/>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1.0</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0.75</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0.5</a:t>
            </a:r>
            <a:r>
              <a:rPr lang="en-US" b="0" dirty="0">
                <a:solidFill>
                  <a:srgbClr val="BBBEBF"/>
                </a:solidFill>
                <a:effectLst/>
                <a:latin typeface="Menlo" panose="020B0609030804020204" pitchFamily="49" charset="0"/>
              </a:rPr>
              <a:t>]</a:t>
            </a:r>
          </a:p>
          <a:p>
            <a:r>
              <a:rPr lang="en-US" b="0" dirty="0" err="1">
                <a:solidFill>
                  <a:srgbClr val="C9D1D9"/>
                </a:solidFill>
                <a:effectLst/>
                <a:latin typeface="Menlo" panose="020B0609030804020204" pitchFamily="49" charset="0"/>
              </a:rPr>
              <a:t>min_sample_splits</a:t>
            </a:r>
            <a:r>
              <a:rPr lang="en-US" b="0" dirty="0">
                <a:solidFill>
                  <a:srgbClr val="BBBEBF"/>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2</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5</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10</a:t>
            </a:r>
            <a:r>
              <a:rPr lang="en-US" b="0" dirty="0">
                <a:solidFill>
                  <a:srgbClr val="BBBEBF"/>
                </a:solidFill>
                <a:effectLst/>
                <a:latin typeface="Menlo" panose="020B0609030804020204" pitchFamily="49" charset="0"/>
              </a:rPr>
              <a:t>]</a:t>
            </a:r>
          </a:p>
          <a:p>
            <a:r>
              <a:rPr lang="en-US" b="0" dirty="0" err="1">
                <a:solidFill>
                  <a:srgbClr val="C9D1D9"/>
                </a:solidFill>
                <a:effectLst/>
                <a:latin typeface="Menlo" panose="020B0609030804020204" pitchFamily="49" charset="0"/>
              </a:rPr>
              <a:t>max_depths</a:t>
            </a:r>
            <a:r>
              <a:rPr lang="en-US" b="0" dirty="0">
                <a:solidFill>
                  <a:srgbClr val="BBBEBF"/>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3</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5</a:t>
            </a:r>
            <a:r>
              <a:rPr lang="en-US" b="0" dirty="0">
                <a:solidFill>
                  <a:srgbClr val="BBBEBF"/>
                </a:solidFill>
                <a:effectLst/>
                <a:latin typeface="Menlo" panose="020B0609030804020204" pitchFamily="49" charset="0"/>
              </a:rPr>
              <a:t>, </a:t>
            </a:r>
            <a:r>
              <a:rPr lang="en-US" b="0" dirty="0">
                <a:solidFill>
                  <a:srgbClr val="B5CEA8"/>
                </a:solidFill>
                <a:effectLst/>
                <a:latin typeface="Menlo" panose="020B0609030804020204" pitchFamily="49" charset="0"/>
              </a:rPr>
              <a:t>10</a:t>
            </a:r>
            <a:r>
              <a:rPr lang="en-US" b="0" dirty="0">
                <a:solidFill>
                  <a:srgbClr val="BBBEBF"/>
                </a:solidFill>
                <a:effectLst/>
                <a:latin typeface="Menlo" panose="020B0609030804020204" pitchFamily="49" charset="0"/>
              </a:rPr>
              <a:t>]</a:t>
            </a:r>
          </a:p>
          <a:p>
            <a:endParaRPr lang="en-US" dirty="0"/>
          </a:p>
        </p:txBody>
      </p:sp>
      <p:sp>
        <p:nvSpPr>
          <p:cNvPr id="4" name="Slide Number Placeholder 3">
            <a:extLst>
              <a:ext uri="{FF2B5EF4-FFF2-40B4-BE49-F238E27FC236}">
                <a16:creationId xmlns:a16="http://schemas.microsoft.com/office/drawing/2014/main" id="{462125DF-02A3-CDA2-C9E8-791D60EBC807}"/>
              </a:ext>
            </a:extLst>
          </p:cNvPr>
          <p:cNvSpPr>
            <a:spLocks noGrp="1"/>
          </p:cNvSpPr>
          <p:nvPr>
            <p:ph type="sldNum" sz="quarter" idx="12"/>
          </p:nvPr>
        </p:nvSpPr>
        <p:spPr/>
        <p:txBody>
          <a:bodyPr/>
          <a:lstStyle/>
          <a:p>
            <a:fld id="{DCC1F92A-C6D8-4423-A6E5-606ADED483CD}" type="slidenum">
              <a:rPr lang="en-US" smtClean="0"/>
              <a:t>16</a:t>
            </a:fld>
            <a:endParaRPr lang="en-US"/>
          </a:p>
        </p:txBody>
      </p:sp>
      <p:sp>
        <p:nvSpPr>
          <p:cNvPr id="5" name="Rectangle 4">
            <a:extLst>
              <a:ext uri="{FF2B5EF4-FFF2-40B4-BE49-F238E27FC236}">
                <a16:creationId xmlns:a16="http://schemas.microsoft.com/office/drawing/2014/main" id="{C2CF6255-517B-697D-EC0D-BBC846E3BA74}"/>
              </a:ext>
            </a:extLst>
          </p:cNvPr>
          <p:cNvSpPr/>
          <p:nvPr/>
        </p:nvSpPr>
        <p:spPr>
          <a:xfrm>
            <a:off x="3888510" y="3195782"/>
            <a:ext cx="831272" cy="49876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E58721C-B04F-D7F5-6948-5481B29E4E47}"/>
              </a:ext>
            </a:extLst>
          </p:cNvPr>
          <p:cNvSpPr/>
          <p:nvPr/>
        </p:nvSpPr>
        <p:spPr>
          <a:xfrm>
            <a:off x="4133272" y="3644976"/>
            <a:ext cx="831272" cy="49876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06317A-22B6-0643-37DC-60CB515EFA0E}"/>
              </a:ext>
            </a:extLst>
          </p:cNvPr>
          <p:cNvSpPr/>
          <p:nvPr/>
        </p:nvSpPr>
        <p:spPr>
          <a:xfrm>
            <a:off x="4830617" y="4100943"/>
            <a:ext cx="831272" cy="49876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68F2B69-5209-4061-C2B9-1AFF6F8BCAC5}"/>
              </a:ext>
            </a:extLst>
          </p:cNvPr>
          <p:cNvSpPr/>
          <p:nvPr/>
        </p:nvSpPr>
        <p:spPr>
          <a:xfrm>
            <a:off x="5211613" y="4551059"/>
            <a:ext cx="831272" cy="49876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1EB9E1C-B6FD-5B66-49AA-6228B1A70F79}"/>
              </a:ext>
            </a:extLst>
          </p:cNvPr>
          <p:cNvSpPr/>
          <p:nvPr/>
        </p:nvSpPr>
        <p:spPr>
          <a:xfrm>
            <a:off x="3472874" y="4985018"/>
            <a:ext cx="831272" cy="49876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41B5727-689C-AE72-2114-CF861828D9AF}"/>
              </a:ext>
            </a:extLst>
          </p:cNvPr>
          <p:cNvSpPr txBox="1"/>
          <p:nvPr/>
        </p:nvSpPr>
        <p:spPr>
          <a:xfrm>
            <a:off x="6322289" y="4615774"/>
            <a:ext cx="4681090" cy="369332"/>
          </a:xfrm>
          <a:prstGeom prst="rect">
            <a:avLst/>
          </a:prstGeom>
          <a:noFill/>
        </p:spPr>
        <p:txBody>
          <a:bodyPr wrap="none" rtlCol="0">
            <a:spAutoFit/>
          </a:bodyPr>
          <a:lstStyle/>
          <a:p>
            <a:r>
              <a:rPr lang="en-US" dirty="0">
                <a:solidFill>
                  <a:schemeClr val="accent1"/>
                </a:solidFill>
              </a:rPr>
              <a:t>Should try to extend these extreme values</a:t>
            </a:r>
          </a:p>
        </p:txBody>
      </p:sp>
    </p:spTree>
    <p:extLst>
      <p:ext uri="{BB962C8B-B14F-4D97-AF65-F5344CB8AC3E}">
        <p14:creationId xmlns:p14="http://schemas.microsoft.com/office/powerpoint/2010/main" val="3041451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867AB-6243-80D1-3FEC-419D2607BA17}"/>
              </a:ext>
            </a:extLst>
          </p:cNvPr>
          <p:cNvSpPr>
            <a:spLocks noGrp="1"/>
          </p:cNvSpPr>
          <p:nvPr>
            <p:ph type="title"/>
          </p:nvPr>
        </p:nvSpPr>
        <p:spPr/>
        <p:txBody>
          <a:bodyPr/>
          <a:lstStyle/>
          <a:p>
            <a:r>
              <a:rPr lang="en-US" dirty="0"/>
              <a:t>2 – Model Development</a:t>
            </a:r>
          </a:p>
        </p:txBody>
      </p:sp>
      <p:sp>
        <p:nvSpPr>
          <p:cNvPr id="3" name="Content Placeholder 2">
            <a:extLst>
              <a:ext uri="{FF2B5EF4-FFF2-40B4-BE49-F238E27FC236}">
                <a16:creationId xmlns:a16="http://schemas.microsoft.com/office/drawing/2014/main" id="{7B3FF169-097C-79D7-2F30-2130A911AA95}"/>
              </a:ext>
            </a:extLst>
          </p:cNvPr>
          <p:cNvSpPr>
            <a:spLocks noGrp="1"/>
          </p:cNvSpPr>
          <p:nvPr>
            <p:ph idx="1"/>
          </p:nvPr>
        </p:nvSpPr>
        <p:spPr>
          <a:xfrm>
            <a:off x="1097280" y="1845734"/>
            <a:ext cx="10058400" cy="482317"/>
          </a:xfrm>
        </p:spPr>
        <p:txBody>
          <a:bodyPr/>
          <a:lstStyle/>
          <a:p>
            <a:r>
              <a:rPr lang="en-US" dirty="0"/>
              <a:t>Models to compare to:</a:t>
            </a:r>
          </a:p>
        </p:txBody>
      </p:sp>
      <p:sp>
        <p:nvSpPr>
          <p:cNvPr id="4" name="Slide Number Placeholder 3">
            <a:extLst>
              <a:ext uri="{FF2B5EF4-FFF2-40B4-BE49-F238E27FC236}">
                <a16:creationId xmlns:a16="http://schemas.microsoft.com/office/drawing/2014/main" id="{4E8788F6-8C38-4F74-C74B-3BDF077789A8}"/>
              </a:ext>
            </a:extLst>
          </p:cNvPr>
          <p:cNvSpPr>
            <a:spLocks noGrp="1"/>
          </p:cNvSpPr>
          <p:nvPr>
            <p:ph type="sldNum" sz="quarter" idx="12"/>
          </p:nvPr>
        </p:nvSpPr>
        <p:spPr/>
        <p:txBody>
          <a:bodyPr/>
          <a:lstStyle/>
          <a:p>
            <a:fld id="{DCC1F92A-C6D8-4423-A6E5-606ADED483CD}" type="slidenum">
              <a:rPr lang="en-US" smtClean="0"/>
              <a:t>17</a:t>
            </a:fld>
            <a:endParaRPr lang="en-US"/>
          </a:p>
        </p:txBody>
      </p:sp>
      <p:sp>
        <p:nvSpPr>
          <p:cNvPr id="5" name="TextBox 4">
            <a:extLst>
              <a:ext uri="{FF2B5EF4-FFF2-40B4-BE49-F238E27FC236}">
                <a16:creationId xmlns:a16="http://schemas.microsoft.com/office/drawing/2014/main" id="{FF9FB262-8003-9ECF-772C-BD156EB999C2}"/>
              </a:ext>
            </a:extLst>
          </p:cNvPr>
          <p:cNvSpPr txBox="1"/>
          <p:nvPr/>
        </p:nvSpPr>
        <p:spPr>
          <a:xfrm>
            <a:off x="2055091" y="2328051"/>
            <a:ext cx="8081818" cy="3970318"/>
          </a:xfrm>
          <a:prstGeom prst="rect">
            <a:avLst/>
          </a:prstGeom>
          <a:noFill/>
        </p:spPr>
        <p:txBody>
          <a:bodyPr wrap="square" rtlCol="0">
            <a:spAutoFit/>
          </a:bodyPr>
          <a:lstStyle/>
          <a:p>
            <a:pPr marL="342900" indent="-342900">
              <a:buFont typeface="+mj-lt"/>
              <a:buAutoNum type="arabicPeriod"/>
            </a:pPr>
            <a:r>
              <a:rPr lang="en-US" dirty="0"/>
              <a:t>Zero-R: Predicts the most frequent occurrence – Typical benchmark</a:t>
            </a:r>
          </a:p>
          <a:p>
            <a:pPr marL="342900" indent="-342900">
              <a:buFont typeface="+mj-lt"/>
              <a:buAutoNum type="arabicPeriod"/>
            </a:pPr>
            <a:r>
              <a:rPr lang="en-US" dirty="0"/>
              <a:t>Weighted Coin Flip: Randomly predicts classifier based on percentage of each classifier in the training set – Typical random benchmark</a:t>
            </a:r>
          </a:p>
          <a:p>
            <a:pPr marL="342900" indent="-342900">
              <a:buFont typeface="+mj-lt"/>
              <a:buAutoNum type="arabicPeriod"/>
            </a:pPr>
            <a:r>
              <a:rPr lang="en-US" dirty="0"/>
              <a:t>Logistic Regression: Linear model with a sigmoid output to predict classes - Typical Linear Benchmark</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Raw Gradient Boosted Classifier – Same BG classifier model but trained on only the numerical data available without processing : Determine if the data processing helped improve our prediction.</a:t>
            </a:r>
          </a:p>
          <a:p>
            <a:pPr marL="342900" indent="-342900">
              <a:buFont typeface="+mj-lt"/>
              <a:buAutoNum type="arabicPeriod"/>
            </a:pPr>
            <a:r>
              <a:rPr lang="en-US" dirty="0"/>
              <a:t>Minimal Gradient Boosted Classifier – Same BG classifier model but trained on three features (</a:t>
            </a:r>
            <a:r>
              <a:rPr lang="en-US" dirty="0" err="1"/>
              <a:t>percent_rent_diff</a:t>
            </a:r>
            <a:r>
              <a:rPr lang="en-US" dirty="0"/>
              <a:t>, </a:t>
            </a:r>
            <a:r>
              <a:rPr lang="en-US" dirty="0" err="1"/>
              <a:t>number_of_requests</a:t>
            </a:r>
            <a:r>
              <a:rPr lang="en-US" dirty="0"/>
              <a:t>, age) which were determined to be the most important features: Determine if we can achieve the same accuracy in fewer features.</a:t>
            </a:r>
          </a:p>
        </p:txBody>
      </p:sp>
      <p:sp>
        <p:nvSpPr>
          <p:cNvPr id="6" name="Content Placeholder 2">
            <a:extLst>
              <a:ext uri="{FF2B5EF4-FFF2-40B4-BE49-F238E27FC236}">
                <a16:creationId xmlns:a16="http://schemas.microsoft.com/office/drawing/2014/main" id="{A28AAAB2-4469-4271-372E-9FB8B6762298}"/>
              </a:ext>
            </a:extLst>
          </p:cNvPr>
          <p:cNvSpPr txBox="1">
            <a:spLocks/>
          </p:cNvSpPr>
          <p:nvPr/>
        </p:nvSpPr>
        <p:spPr>
          <a:xfrm>
            <a:off x="1097280" y="3857414"/>
            <a:ext cx="10058400" cy="48231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And some custom models:</a:t>
            </a:r>
          </a:p>
        </p:txBody>
      </p:sp>
    </p:spTree>
    <p:extLst>
      <p:ext uri="{BB962C8B-B14F-4D97-AF65-F5344CB8AC3E}">
        <p14:creationId xmlns:p14="http://schemas.microsoft.com/office/powerpoint/2010/main" val="3094019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F7AC5-1E90-0CB4-CB70-462746531B06}"/>
              </a:ext>
            </a:extLst>
          </p:cNvPr>
          <p:cNvSpPr>
            <a:spLocks noGrp="1"/>
          </p:cNvSpPr>
          <p:nvPr>
            <p:ph type="title"/>
          </p:nvPr>
        </p:nvSpPr>
        <p:spPr/>
        <p:txBody>
          <a:bodyPr/>
          <a:lstStyle/>
          <a:p>
            <a:r>
              <a:rPr lang="en-US" dirty="0"/>
              <a:t>2 – Model Development</a:t>
            </a:r>
          </a:p>
        </p:txBody>
      </p:sp>
      <p:sp>
        <p:nvSpPr>
          <p:cNvPr id="4" name="Slide Number Placeholder 3">
            <a:extLst>
              <a:ext uri="{FF2B5EF4-FFF2-40B4-BE49-F238E27FC236}">
                <a16:creationId xmlns:a16="http://schemas.microsoft.com/office/drawing/2014/main" id="{567C830C-702E-8586-6183-B8D92F9474F0}"/>
              </a:ext>
            </a:extLst>
          </p:cNvPr>
          <p:cNvSpPr>
            <a:spLocks noGrp="1"/>
          </p:cNvSpPr>
          <p:nvPr>
            <p:ph type="sldNum" sz="quarter" idx="12"/>
          </p:nvPr>
        </p:nvSpPr>
        <p:spPr/>
        <p:txBody>
          <a:bodyPr/>
          <a:lstStyle/>
          <a:p>
            <a:fld id="{DCC1F92A-C6D8-4423-A6E5-606ADED483CD}" type="slidenum">
              <a:rPr lang="en-US" smtClean="0"/>
              <a:t>18</a:t>
            </a:fld>
            <a:endParaRPr lang="en-US"/>
          </a:p>
        </p:txBody>
      </p:sp>
      <p:sp>
        <p:nvSpPr>
          <p:cNvPr id="9" name="TextBox 8">
            <a:extLst>
              <a:ext uri="{FF2B5EF4-FFF2-40B4-BE49-F238E27FC236}">
                <a16:creationId xmlns:a16="http://schemas.microsoft.com/office/drawing/2014/main" id="{8B95D958-EB20-2299-8BFE-41B7AFE98F09}"/>
              </a:ext>
            </a:extLst>
          </p:cNvPr>
          <p:cNvSpPr txBox="1"/>
          <p:nvPr/>
        </p:nvSpPr>
        <p:spPr>
          <a:xfrm>
            <a:off x="1616363" y="1914827"/>
            <a:ext cx="6096000" cy="4185761"/>
          </a:xfrm>
          <a:prstGeom prst="rect">
            <a:avLst/>
          </a:prstGeom>
          <a:noFill/>
        </p:spPr>
        <p:txBody>
          <a:bodyPr wrap="square">
            <a:spAutoFit/>
          </a:bodyPr>
          <a:lstStyle/>
          <a:p>
            <a:r>
              <a:rPr lang="en-US" sz="1400" b="0" i="0" dirty="0">
                <a:effectLst/>
                <a:latin typeface="Menlo" panose="020B0609030804020204" pitchFamily="49" charset="0"/>
              </a:rPr>
              <a:t>--- MODEL RESULTS --- </a:t>
            </a:r>
          </a:p>
          <a:p>
            <a:r>
              <a:rPr lang="en-US" sz="1400" b="0" i="0" dirty="0">
                <a:effectLst/>
                <a:latin typeface="Menlo" panose="020B0609030804020204" pitchFamily="49" charset="0"/>
              </a:rPr>
              <a:t>Model </a:t>
            </a:r>
            <a:r>
              <a:rPr lang="en-US" sz="1400" b="0" i="0" dirty="0" err="1">
                <a:effectLst/>
                <a:latin typeface="Menlo" panose="020B0609030804020204" pitchFamily="49" charset="0"/>
              </a:rPr>
              <a:t>Accur</a:t>
            </a:r>
            <a:r>
              <a:rPr lang="en-US" sz="1400" b="0" i="0" dirty="0">
                <a:effectLst/>
                <a:latin typeface="Menlo" panose="020B0609030804020204" pitchFamily="49" charset="0"/>
              </a:rPr>
              <a:t>. AUC </a:t>
            </a:r>
          </a:p>
          <a:p>
            <a:r>
              <a:rPr lang="en-US" sz="1400" b="0" i="0" dirty="0">
                <a:effectLst/>
                <a:latin typeface="Menlo" panose="020B0609030804020204" pitchFamily="49" charset="0"/>
              </a:rPr>
              <a:t>GBC 0.8768 0.8910 </a:t>
            </a:r>
          </a:p>
          <a:p>
            <a:r>
              <a:rPr lang="en-US" sz="1400" b="0" i="0" dirty="0">
                <a:effectLst/>
                <a:latin typeface="Menlo" panose="020B0609030804020204" pitchFamily="49" charset="0"/>
              </a:rPr>
              <a:t>MIN 0.8570 0.8694 </a:t>
            </a:r>
          </a:p>
          <a:p>
            <a:r>
              <a:rPr lang="en-US" sz="1400" b="0" i="0" dirty="0">
                <a:effectLst/>
                <a:latin typeface="Menlo" panose="020B0609030804020204" pitchFamily="49" charset="0"/>
              </a:rPr>
              <a:t>RAW 0.7371 0.7945 </a:t>
            </a:r>
          </a:p>
          <a:p>
            <a:r>
              <a:rPr lang="en-US" sz="1400" b="0" i="0" dirty="0">
                <a:effectLst/>
                <a:latin typeface="Menlo" panose="020B0609030804020204" pitchFamily="49" charset="0"/>
              </a:rPr>
              <a:t>LOG 0.6873 0.7514 </a:t>
            </a:r>
          </a:p>
          <a:p>
            <a:r>
              <a:rPr lang="en-US" sz="1400" b="0" i="0" dirty="0">
                <a:effectLst/>
                <a:latin typeface="Menlo" panose="020B0609030804020204" pitchFamily="49" charset="0"/>
              </a:rPr>
              <a:t>Z-R 0.5595 0.5000 </a:t>
            </a:r>
          </a:p>
          <a:p>
            <a:r>
              <a:rPr lang="en-US" sz="1400" b="0" i="0" dirty="0">
                <a:effectLst/>
                <a:latin typeface="Menlo" panose="020B0609030804020204" pitchFamily="49" charset="0"/>
              </a:rPr>
              <a:t>WCF 0.5064 0.5000 </a:t>
            </a:r>
          </a:p>
          <a:p>
            <a:r>
              <a:rPr lang="en-US" sz="1400" b="0" i="0" dirty="0">
                <a:effectLst/>
                <a:latin typeface="Menlo" panose="020B0609030804020204" pitchFamily="49" charset="0"/>
              </a:rPr>
              <a:t>Analyzing feature </a:t>
            </a:r>
            <a:r>
              <a:rPr lang="en-US" sz="1400" b="0" i="0" dirty="0" err="1">
                <a:effectLst/>
                <a:latin typeface="Menlo" panose="020B0609030804020204" pitchFamily="49" charset="0"/>
              </a:rPr>
              <a:t>importances</a:t>
            </a:r>
            <a:r>
              <a:rPr lang="en-US" sz="1400" b="0" i="0" dirty="0">
                <a:effectLst/>
                <a:latin typeface="Menlo" panose="020B0609030804020204" pitchFamily="49" charset="0"/>
              </a:rPr>
              <a:t>... </a:t>
            </a:r>
          </a:p>
          <a:p>
            <a:r>
              <a:rPr lang="en-US" sz="1400" b="0" i="0" dirty="0" err="1">
                <a:effectLst/>
                <a:latin typeface="Menlo" panose="020B0609030804020204" pitchFamily="49" charset="0"/>
              </a:rPr>
              <a:t>percent_rent_diff</a:t>
            </a:r>
            <a:r>
              <a:rPr lang="en-US" sz="1400" b="0" i="0" dirty="0">
                <a:effectLst/>
                <a:latin typeface="Menlo" panose="020B0609030804020204" pitchFamily="49" charset="0"/>
              </a:rPr>
              <a:t>: 0.26039206822990624 </a:t>
            </a:r>
          </a:p>
          <a:p>
            <a:r>
              <a:rPr lang="en-US" sz="1400" b="0" i="0" dirty="0">
                <a:effectLst/>
                <a:latin typeface="Menlo" panose="020B0609030804020204" pitchFamily="49" charset="0"/>
              </a:rPr>
              <a:t>age: 0.23425328311870275 </a:t>
            </a:r>
          </a:p>
          <a:p>
            <a:r>
              <a:rPr lang="en-US" sz="1400" b="0" i="0" dirty="0" err="1">
                <a:effectLst/>
                <a:latin typeface="Menlo" panose="020B0609030804020204" pitchFamily="49" charset="0"/>
              </a:rPr>
              <a:t>number_of_requests</a:t>
            </a:r>
            <a:r>
              <a:rPr lang="en-US" sz="1400" b="0" i="0" dirty="0">
                <a:effectLst/>
                <a:latin typeface="Menlo" panose="020B0609030804020204" pitchFamily="49" charset="0"/>
              </a:rPr>
              <a:t>: 0.22941512262405903 </a:t>
            </a:r>
          </a:p>
          <a:p>
            <a:r>
              <a:rPr lang="en-US" sz="1400" b="0" i="0" dirty="0" err="1">
                <a:effectLst/>
                <a:latin typeface="Menlo" panose="020B0609030804020204" pitchFamily="49" charset="0"/>
              </a:rPr>
              <a:t>lease_length</a:t>
            </a:r>
            <a:r>
              <a:rPr lang="en-US" sz="1400" b="0" i="0" dirty="0">
                <a:effectLst/>
                <a:latin typeface="Menlo" panose="020B0609030804020204" pitchFamily="49" charset="0"/>
              </a:rPr>
              <a:t>: 0.09358002252217802 </a:t>
            </a:r>
          </a:p>
          <a:p>
            <a:r>
              <a:rPr lang="en-US" sz="1400" b="0" i="0" dirty="0" err="1">
                <a:effectLst/>
                <a:latin typeface="Menlo" panose="020B0609030804020204" pitchFamily="49" charset="0"/>
              </a:rPr>
              <a:t>avg_completion_time</a:t>
            </a:r>
            <a:r>
              <a:rPr lang="en-US" sz="1400" b="0" i="0" dirty="0">
                <a:effectLst/>
                <a:latin typeface="Menlo" panose="020B0609030804020204" pitchFamily="49" charset="0"/>
              </a:rPr>
              <a:t>: 0.048544691539268096 </a:t>
            </a:r>
          </a:p>
          <a:p>
            <a:r>
              <a:rPr lang="en-US" sz="1400" b="0" i="0" dirty="0" err="1">
                <a:effectLst/>
                <a:latin typeface="Menlo" panose="020B0609030804020204" pitchFamily="49" charset="0"/>
              </a:rPr>
              <a:t>monthly_rent</a:t>
            </a:r>
            <a:r>
              <a:rPr lang="en-US" sz="1400" b="0" i="0" dirty="0">
                <a:effectLst/>
                <a:latin typeface="Menlo" panose="020B0609030804020204" pitchFamily="49" charset="0"/>
              </a:rPr>
              <a:t>: 0.04505907972897842 </a:t>
            </a:r>
          </a:p>
          <a:p>
            <a:r>
              <a:rPr lang="en-US" sz="1400" b="0" i="0" dirty="0" err="1">
                <a:effectLst/>
                <a:latin typeface="Menlo" panose="020B0609030804020204" pitchFamily="49" charset="0"/>
              </a:rPr>
              <a:t>lease_renew_window</a:t>
            </a:r>
            <a:r>
              <a:rPr lang="en-US" sz="1400" b="0" i="0" dirty="0">
                <a:effectLst/>
                <a:latin typeface="Menlo" panose="020B0609030804020204" pitchFamily="49" charset="0"/>
              </a:rPr>
              <a:t>: 0.03994241669274943 </a:t>
            </a:r>
          </a:p>
          <a:p>
            <a:r>
              <a:rPr lang="en-US" sz="1400" b="0" i="0" dirty="0" err="1">
                <a:effectLst/>
                <a:latin typeface="Menlo" panose="020B0609030804020204" pitchFamily="49" charset="0"/>
              </a:rPr>
              <a:t>avg_completion_diff</a:t>
            </a:r>
            <a:r>
              <a:rPr lang="en-US" sz="1400" b="0" i="0" dirty="0">
                <a:effectLst/>
                <a:latin typeface="Menlo" panose="020B0609030804020204" pitchFamily="49" charset="0"/>
              </a:rPr>
              <a:t>: 0.03470413814814109 </a:t>
            </a:r>
          </a:p>
          <a:p>
            <a:r>
              <a:rPr lang="en-US" sz="1400" b="0" i="0" dirty="0" err="1">
                <a:effectLst/>
                <a:latin typeface="Menlo" panose="020B0609030804020204" pitchFamily="49" charset="0"/>
              </a:rPr>
              <a:t>percent_completion</a:t>
            </a:r>
            <a:r>
              <a:rPr lang="en-US" sz="1400" b="0" i="0" dirty="0">
                <a:effectLst/>
                <a:latin typeface="Menlo" panose="020B0609030804020204" pitchFamily="49" charset="0"/>
              </a:rPr>
              <a:t>: 0.0072115488336335675 </a:t>
            </a:r>
          </a:p>
          <a:p>
            <a:r>
              <a:rPr lang="en-US" sz="1400" b="0" i="0" dirty="0" err="1">
                <a:effectLst/>
                <a:latin typeface="Menlo" panose="020B0609030804020204" pitchFamily="49" charset="0"/>
              </a:rPr>
              <a:t>newsletter_opt_in</a:t>
            </a:r>
            <a:r>
              <a:rPr lang="en-US" sz="1400" b="0" i="0" dirty="0">
                <a:effectLst/>
                <a:latin typeface="Menlo" panose="020B0609030804020204" pitchFamily="49" charset="0"/>
              </a:rPr>
              <a:t>: 0.006897628562383365</a:t>
            </a:r>
            <a:endParaRPr lang="en-US" sz="1400" dirty="0"/>
          </a:p>
        </p:txBody>
      </p:sp>
      <p:sp>
        <p:nvSpPr>
          <p:cNvPr id="10" name="TextBox 9">
            <a:extLst>
              <a:ext uri="{FF2B5EF4-FFF2-40B4-BE49-F238E27FC236}">
                <a16:creationId xmlns:a16="http://schemas.microsoft.com/office/drawing/2014/main" id="{AC69B732-767D-F896-DD06-D4C1BC476619}"/>
              </a:ext>
            </a:extLst>
          </p:cNvPr>
          <p:cNvSpPr txBox="1"/>
          <p:nvPr/>
        </p:nvSpPr>
        <p:spPr>
          <a:xfrm>
            <a:off x="3749964" y="3059668"/>
            <a:ext cx="4504759" cy="369332"/>
          </a:xfrm>
          <a:prstGeom prst="rect">
            <a:avLst/>
          </a:prstGeom>
          <a:noFill/>
        </p:spPr>
        <p:txBody>
          <a:bodyPr wrap="none" rtlCol="0">
            <a:spAutoFit/>
          </a:bodyPr>
          <a:lstStyle/>
          <a:p>
            <a:r>
              <a:rPr lang="en-US" dirty="0">
                <a:solidFill>
                  <a:schemeClr val="accent1"/>
                </a:solidFill>
              </a:rPr>
              <a:t>We outperform the standard test models</a:t>
            </a:r>
          </a:p>
        </p:txBody>
      </p:sp>
      <p:sp>
        <p:nvSpPr>
          <p:cNvPr id="11" name="TextBox 10">
            <a:extLst>
              <a:ext uri="{FF2B5EF4-FFF2-40B4-BE49-F238E27FC236}">
                <a16:creationId xmlns:a16="http://schemas.microsoft.com/office/drawing/2014/main" id="{22C9857A-83CA-8E28-C514-DEEA38353C97}"/>
              </a:ext>
            </a:extLst>
          </p:cNvPr>
          <p:cNvSpPr txBox="1"/>
          <p:nvPr/>
        </p:nvSpPr>
        <p:spPr>
          <a:xfrm>
            <a:off x="3749963" y="2672319"/>
            <a:ext cx="7217040" cy="369332"/>
          </a:xfrm>
          <a:prstGeom prst="rect">
            <a:avLst/>
          </a:prstGeom>
          <a:noFill/>
        </p:spPr>
        <p:txBody>
          <a:bodyPr wrap="none" rtlCol="0">
            <a:spAutoFit/>
          </a:bodyPr>
          <a:lstStyle/>
          <a:p>
            <a:r>
              <a:rPr lang="en-US" dirty="0">
                <a:solidFill>
                  <a:schemeClr val="accent1"/>
                </a:solidFill>
              </a:rPr>
              <a:t>The additional feature and feature processing improves the model </a:t>
            </a:r>
          </a:p>
        </p:txBody>
      </p:sp>
      <p:sp>
        <p:nvSpPr>
          <p:cNvPr id="12" name="TextBox 11">
            <a:extLst>
              <a:ext uri="{FF2B5EF4-FFF2-40B4-BE49-F238E27FC236}">
                <a16:creationId xmlns:a16="http://schemas.microsoft.com/office/drawing/2014/main" id="{16B6CB3D-E0B9-94D7-1601-D52D79A49F3C}"/>
              </a:ext>
            </a:extLst>
          </p:cNvPr>
          <p:cNvSpPr txBox="1"/>
          <p:nvPr/>
        </p:nvSpPr>
        <p:spPr>
          <a:xfrm>
            <a:off x="7197898" y="4164629"/>
            <a:ext cx="3267241" cy="1200329"/>
          </a:xfrm>
          <a:prstGeom prst="rect">
            <a:avLst/>
          </a:prstGeom>
          <a:noFill/>
        </p:spPr>
        <p:txBody>
          <a:bodyPr wrap="none" rtlCol="0">
            <a:spAutoFit/>
          </a:bodyPr>
          <a:lstStyle/>
          <a:p>
            <a:r>
              <a:rPr lang="en-US" dirty="0">
                <a:solidFill>
                  <a:schemeClr val="accent1"/>
                </a:solidFill>
              </a:rPr>
              <a:t>Most import features are:</a:t>
            </a:r>
          </a:p>
          <a:p>
            <a:pPr marL="342900" indent="-342900">
              <a:buFont typeface="+mj-lt"/>
              <a:buAutoNum type="arabicPeriod"/>
            </a:pPr>
            <a:r>
              <a:rPr lang="en-US" dirty="0">
                <a:solidFill>
                  <a:schemeClr val="accent1"/>
                </a:solidFill>
              </a:rPr>
              <a:t>Percentage Rent Increase</a:t>
            </a:r>
          </a:p>
          <a:p>
            <a:pPr marL="342900" indent="-342900">
              <a:buFont typeface="+mj-lt"/>
              <a:buAutoNum type="arabicPeriod"/>
            </a:pPr>
            <a:r>
              <a:rPr lang="en-US" dirty="0">
                <a:solidFill>
                  <a:schemeClr val="accent1"/>
                </a:solidFill>
              </a:rPr>
              <a:t>Number of Requests</a:t>
            </a:r>
          </a:p>
          <a:p>
            <a:pPr marL="342900" indent="-342900">
              <a:buFont typeface="+mj-lt"/>
              <a:buAutoNum type="arabicPeriod"/>
            </a:pPr>
            <a:r>
              <a:rPr lang="en-US" dirty="0">
                <a:solidFill>
                  <a:schemeClr val="accent1"/>
                </a:solidFill>
              </a:rPr>
              <a:t>Age (???)</a:t>
            </a:r>
          </a:p>
        </p:txBody>
      </p:sp>
    </p:spTree>
    <p:extLst>
      <p:ext uri="{BB962C8B-B14F-4D97-AF65-F5344CB8AC3E}">
        <p14:creationId xmlns:p14="http://schemas.microsoft.com/office/powerpoint/2010/main" val="2133633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C68A-91E2-9B3B-4058-2324B96F58BA}"/>
              </a:ext>
            </a:extLst>
          </p:cNvPr>
          <p:cNvSpPr>
            <a:spLocks noGrp="1"/>
          </p:cNvSpPr>
          <p:nvPr>
            <p:ph type="title"/>
          </p:nvPr>
        </p:nvSpPr>
        <p:spPr/>
        <p:txBody>
          <a:bodyPr/>
          <a:lstStyle/>
          <a:p>
            <a:r>
              <a:rPr lang="en-US" dirty="0"/>
              <a:t>2 – Model Development</a:t>
            </a:r>
          </a:p>
        </p:txBody>
      </p:sp>
      <p:sp>
        <p:nvSpPr>
          <p:cNvPr id="4" name="Slide Number Placeholder 3">
            <a:extLst>
              <a:ext uri="{FF2B5EF4-FFF2-40B4-BE49-F238E27FC236}">
                <a16:creationId xmlns:a16="http://schemas.microsoft.com/office/drawing/2014/main" id="{9935A3DA-401D-5A87-C5C5-6B33001E2C0A}"/>
              </a:ext>
            </a:extLst>
          </p:cNvPr>
          <p:cNvSpPr>
            <a:spLocks noGrp="1"/>
          </p:cNvSpPr>
          <p:nvPr>
            <p:ph type="sldNum" sz="quarter" idx="12"/>
          </p:nvPr>
        </p:nvSpPr>
        <p:spPr/>
        <p:txBody>
          <a:bodyPr/>
          <a:lstStyle/>
          <a:p>
            <a:fld id="{DCC1F92A-C6D8-4423-A6E5-606ADED483CD}" type="slidenum">
              <a:rPr lang="en-US" smtClean="0"/>
              <a:t>19</a:t>
            </a:fld>
            <a:endParaRPr lang="en-US"/>
          </a:p>
        </p:txBody>
      </p:sp>
      <p:sp>
        <p:nvSpPr>
          <p:cNvPr id="5" name="TextBox 4">
            <a:extLst>
              <a:ext uri="{FF2B5EF4-FFF2-40B4-BE49-F238E27FC236}">
                <a16:creationId xmlns:a16="http://schemas.microsoft.com/office/drawing/2014/main" id="{85628573-A8FA-BC1D-50D7-EBA76CCC8795}"/>
              </a:ext>
            </a:extLst>
          </p:cNvPr>
          <p:cNvSpPr txBox="1"/>
          <p:nvPr/>
        </p:nvSpPr>
        <p:spPr>
          <a:xfrm>
            <a:off x="5081161" y="1893456"/>
            <a:ext cx="2090637" cy="369332"/>
          </a:xfrm>
          <a:prstGeom prst="rect">
            <a:avLst/>
          </a:prstGeom>
          <a:noFill/>
        </p:spPr>
        <p:txBody>
          <a:bodyPr wrap="none" rtlCol="0">
            <a:spAutoFit/>
          </a:bodyPr>
          <a:lstStyle/>
          <a:p>
            <a:r>
              <a:rPr lang="en-US" dirty="0"/>
              <a:t>Future Directions</a:t>
            </a:r>
          </a:p>
        </p:txBody>
      </p:sp>
      <p:sp>
        <p:nvSpPr>
          <p:cNvPr id="6" name="TextBox 5">
            <a:extLst>
              <a:ext uri="{FF2B5EF4-FFF2-40B4-BE49-F238E27FC236}">
                <a16:creationId xmlns:a16="http://schemas.microsoft.com/office/drawing/2014/main" id="{5493BB41-A993-ABA9-C1AB-C41AC2556A74}"/>
              </a:ext>
            </a:extLst>
          </p:cNvPr>
          <p:cNvSpPr txBox="1"/>
          <p:nvPr/>
        </p:nvSpPr>
        <p:spPr>
          <a:xfrm>
            <a:off x="1357745" y="2641600"/>
            <a:ext cx="9282546" cy="1477328"/>
          </a:xfrm>
          <a:prstGeom prst="rect">
            <a:avLst/>
          </a:prstGeom>
          <a:noFill/>
        </p:spPr>
        <p:txBody>
          <a:bodyPr wrap="square" rtlCol="0">
            <a:spAutoFit/>
          </a:bodyPr>
          <a:lstStyle/>
          <a:p>
            <a:pPr marL="285750" indent="-285750">
              <a:buFont typeface="Arial" panose="020B0604020202020204" pitchFamily="34" charset="0"/>
              <a:buChar char="•"/>
            </a:pPr>
            <a:r>
              <a:rPr lang="en-US" dirty="0"/>
              <a:t>Include message semantics into feature space.</a:t>
            </a:r>
          </a:p>
          <a:p>
            <a:pPr marL="285750" indent="-285750">
              <a:buFont typeface="Arial" panose="020B0604020202020204" pitchFamily="34" charset="0"/>
              <a:buChar char="•"/>
            </a:pPr>
            <a:r>
              <a:rPr lang="en-US" dirty="0"/>
              <a:t>Given the prevalence and importance of maintenance, use more features from that dataset. For example, one-hot embedding of priority and semantic encoding of some of the comments, perhaps projecting onto “angry.”</a:t>
            </a:r>
          </a:p>
          <a:p>
            <a:pPr marL="285750" indent="-285750">
              <a:buFont typeface="Arial" panose="020B0604020202020204" pitchFamily="34" charset="0"/>
              <a:buChar char="•"/>
            </a:pPr>
            <a:r>
              <a:rPr lang="en-US" dirty="0"/>
              <a:t>Finely tune the hyperparameters of the model.</a:t>
            </a:r>
          </a:p>
        </p:txBody>
      </p:sp>
    </p:spTree>
    <p:extLst>
      <p:ext uri="{BB962C8B-B14F-4D97-AF65-F5344CB8AC3E}">
        <p14:creationId xmlns:p14="http://schemas.microsoft.com/office/powerpoint/2010/main" val="162560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7143-89CF-FC6F-AB06-85F462A0E77E}"/>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29E8C1CC-6771-6F02-642F-1BF0C5EA1104}"/>
              </a:ext>
            </a:extLst>
          </p:cNvPr>
          <p:cNvSpPr>
            <a:spLocks noGrp="1"/>
          </p:cNvSpPr>
          <p:nvPr>
            <p:ph type="sldNum" sz="quarter" idx="12"/>
          </p:nvPr>
        </p:nvSpPr>
        <p:spPr/>
        <p:txBody>
          <a:bodyPr/>
          <a:lstStyle/>
          <a:p>
            <a:fld id="{DCC1F92A-C6D8-4423-A6E5-606ADED483CD}" type="slidenum">
              <a:rPr lang="en-US" smtClean="0"/>
              <a:t>20</a:t>
            </a:fld>
            <a:endParaRPr lang="en-US"/>
          </a:p>
        </p:txBody>
      </p:sp>
      <p:sp>
        <p:nvSpPr>
          <p:cNvPr id="8" name="TextBox 7">
            <a:extLst>
              <a:ext uri="{FF2B5EF4-FFF2-40B4-BE49-F238E27FC236}">
                <a16:creationId xmlns:a16="http://schemas.microsoft.com/office/drawing/2014/main" id="{1AB8D319-1ABA-0B13-71A1-BD38C525ECDF}"/>
              </a:ext>
            </a:extLst>
          </p:cNvPr>
          <p:cNvSpPr txBox="1"/>
          <p:nvPr/>
        </p:nvSpPr>
        <p:spPr>
          <a:xfrm>
            <a:off x="1314738" y="2095019"/>
            <a:ext cx="9562523" cy="3847207"/>
          </a:xfrm>
          <a:prstGeom prst="rect">
            <a:avLst/>
          </a:prstGeom>
          <a:noFill/>
        </p:spPr>
        <p:txBody>
          <a:bodyPr wrap="square" rtlCol="0">
            <a:spAutoFit/>
          </a:bodyPr>
          <a:lstStyle/>
          <a:p>
            <a:pPr marL="514350" indent="-514350">
              <a:buFont typeface="+mj-lt"/>
              <a:buAutoNum type="arabicPeriod" startAt="3"/>
            </a:pPr>
            <a:r>
              <a:rPr lang="en-US" sz="2800" dirty="0"/>
              <a:t>Parse through the messages from each user and </a:t>
            </a:r>
            <a:r>
              <a:rPr lang="en-US" sz="2800" dirty="0">
                <a:solidFill>
                  <a:schemeClr val="accent1"/>
                </a:solidFill>
              </a:rPr>
              <a:t>categorize the reason </a:t>
            </a:r>
            <a:r>
              <a:rPr lang="en-US" sz="2800" dirty="0"/>
              <a:t>for not renewing their leases using sentence transformers.</a:t>
            </a:r>
          </a:p>
          <a:p>
            <a:pPr marL="971550" lvl="1" indent="-514350">
              <a:buFont typeface="+mj-lt"/>
              <a:buAutoNum type="arabicPeriod"/>
            </a:pPr>
            <a:r>
              <a:rPr lang="en-US" sz="2000" dirty="0"/>
              <a:t>Sentences are formed for each user by concatenating all of there messages into one sentence.</a:t>
            </a:r>
          </a:p>
          <a:p>
            <a:pPr marL="971550" lvl="1" indent="-514350">
              <a:buFont typeface="+mj-lt"/>
              <a:buAutoNum type="arabicPeriod"/>
            </a:pPr>
            <a:r>
              <a:rPr lang="en-US" sz="2000" dirty="0"/>
              <a:t>k-means clustering analysis is done to cluster the data and allow for easier human parsing of the text to identify semantic clusters.</a:t>
            </a:r>
          </a:p>
          <a:p>
            <a:pPr marL="971550" lvl="1" indent="-514350">
              <a:buFont typeface="+mj-lt"/>
              <a:buAutoNum type="arabicPeriod"/>
            </a:pPr>
            <a:r>
              <a:rPr lang="en-US" sz="2000" dirty="0"/>
              <a:t>Four clusters are identified (Rent, Maintenance, Life, Questions) and projections into these subspaces are analyzed.</a:t>
            </a:r>
          </a:p>
          <a:p>
            <a:pPr marL="971550" lvl="1" indent="-514350">
              <a:buFont typeface="+mj-lt"/>
              <a:buAutoNum type="arabicPeriod"/>
            </a:pPr>
            <a:r>
              <a:rPr lang="en-US" sz="2000" dirty="0"/>
              <a:t>Example semantic embeddings are formulated for each cluster and a cosine similarity score is used to categorize each user.</a:t>
            </a:r>
            <a:endParaRPr lang="en-US" sz="2800" dirty="0"/>
          </a:p>
        </p:txBody>
      </p:sp>
    </p:spTree>
    <p:extLst>
      <p:ext uri="{BB962C8B-B14F-4D97-AF65-F5344CB8AC3E}">
        <p14:creationId xmlns:p14="http://schemas.microsoft.com/office/powerpoint/2010/main" val="2390518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21</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2041236" y="2881746"/>
            <a:ext cx="8109527" cy="1477328"/>
          </a:xfrm>
          <a:prstGeom prst="rect">
            <a:avLst/>
          </a:prstGeom>
          <a:noFill/>
        </p:spPr>
        <p:txBody>
          <a:bodyPr wrap="square" rtlCol="0">
            <a:spAutoFit/>
          </a:bodyPr>
          <a:lstStyle/>
          <a:p>
            <a:pPr algn="ctr"/>
            <a:r>
              <a:rPr lang="en-US" dirty="0"/>
              <a:t>All user comments are concatenated into a large sentence for each user. This might introduce some messy sentences with many extraneous words.</a:t>
            </a:r>
          </a:p>
          <a:p>
            <a:pPr algn="ctr"/>
            <a:endParaRPr lang="en-US" dirty="0"/>
          </a:p>
          <a:p>
            <a:pPr algn="ctr"/>
            <a:r>
              <a:rPr lang="en-US" dirty="0"/>
              <a:t>All sentences in this discussion are encoded using the </a:t>
            </a:r>
            <a:r>
              <a:rPr lang="en-US" dirty="0" err="1"/>
              <a:t>gte</a:t>
            </a:r>
            <a:r>
              <a:rPr lang="en-US" dirty="0"/>
              <a:t>-base transformer model to form sentence vectors for each user’s sentence.</a:t>
            </a:r>
          </a:p>
        </p:txBody>
      </p:sp>
    </p:spTree>
    <p:extLst>
      <p:ext uri="{BB962C8B-B14F-4D97-AF65-F5344CB8AC3E}">
        <p14:creationId xmlns:p14="http://schemas.microsoft.com/office/powerpoint/2010/main" val="2471549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22</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1191491" y="1884218"/>
            <a:ext cx="9042860" cy="369332"/>
          </a:xfrm>
          <a:prstGeom prst="rect">
            <a:avLst/>
          </a:prstGeom>
          <a:noFill/>
        </p:spPr>
        <p:txBody>
          <a:bodyPr wrap="none" rtlCol="0">
            <a:spAutoFit/>
          </a:bodyPr>
          <a:lstStyle/>
          <a:p>
            <a:r>
              <a:rPr lang="en-US" dirty="0"/>
              <a:t>10-means clustering is first performed in order to identify trends in the messages. </a:t>
            </a:r>
          </a:p>
        </p:txBody>
      </p:sp>
      <p:sp>
        <p:nvSpPr>
          <p:cNvPr id="6" name="TextBox 5">
            <a:extLst>
              <a:ext uri="{FF2B5EF4-FFF2-40B4-BE49-F238E27FC236}">
                <a16:creationId xmlns:a16="http://schemas.microsoft.com/office/drawing/2014/main" id="{B32A19E7-10C8-7716-8F24-BB1DE3728C67}"/>
              </a:ext>
            </a:extLst>
          </p:cNvPr>
          <p:cNvSpPr txBox="1"/>
          <p:nvPr/>
        </p:nvSpPr>
        <p:spPr>
          <a:xfrm>
            <a:off x="1889066" y="2400408"/>
            <a:ext cx="764771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Nearly every comment mentions the increasing rent prices. If there is another reason, rent is brought up along side that other reason.</a:t>
            </a:r>
          </a:p>
          <a:p>
            <a:pPr marL="285750" indent="-285750">
              <a:buFont typeface="Arial" panose="020B0604020202020204" pitchFamily="34" charset="0"/>
              <a:buChar char="•"/>
            </a:pPr>
            <a:r>
              <a:rPr lang="en-US" dirty="0"/>
              <a:t>Many comments mentioning maintenance issues, including number of them and slow service. However, nearly all of these comments mention rent prices.</a:t>
            </a:r>
          </a:p>
          <a:p>
            <a:pPr marL="285750" indent="-285750">
              <a:buFont typeface="Arial" panose="020B0604020202020204" pitchFamily="34" charset="0"/>
              <a:buChar char="•"/>
            </a:pPr>
            <a:r>
              <a:rPr lang="en-US" dirty="0"/>
              <a:t>Some comments mention life events like new jobs or moving. These are very few but they don’t usually mention rent.</a:t>
            </a:r>
          </a:p>
          <a:p>
            <a:pPr marL="285750" indent="-285750">
              <a:buFont typeface="Arial" panose="020B0604020202020204" pitchFamily="34" charset="0"/>
              <a:buChar char="•"/>
            </a:pPr>
            <a:r>
              <a:rPr lang="en-US" dirty="0"/>
              <a:t>Some comments are just questions with no follow up. </a:t>
            </a:r>
          </a:p>
        </p:txBody>
      </p:sp>
      <p:sp>
        <p:nvSpPr>
          <p:cNvPr id="7" name="TextBox 6">
            <a:extLst>
              <a:ext uri="{FF2B5EF4-FFF2-40B4-BE49-F238E27FC236}">
                <a16:creationId xmlns:a16="http://schemas.microsoft.com/office/drawing/2014/main" id="{6E6E1341-8A07-3B72-EE47-3450D53BFE3E}"/>
              </a:ext>
            </a:extLst>
          </p:cNvPr>
          <p:cNvSpPr txBox="1"/>
          <p:nvPr/>
        </p:nvSpPr>
        <p:spPr>
          <a:xfrm>
            <a:off x="1191951" y="4945212"/>
            <a:ext cx="9042860" cy="646331"/>
          </a:xfrm>
          <a:prstGeom prst="rect">
            <a:avLst/>
          </a:prstGeom>
          <a:noFill/>
        </p:spPr>
        <p:txBody>
          <a:bodyPr wrap="square" rtlCol="0">
            <a:spAutoFit/>
          </a:bodyPr>
          <a:lstStyle/>
          <a:p>
            <a:r>
              <a:rPr lang="en-US" dirty="0"/>
              <a:t>4-means clustering is then performed in order to try and get these exact clusters. It didn’t work, there’s rent in every cluster. </a:t>
            </a:r>
          </a:p>
        </p:txBody>
      </p:sp>
    </p:spTree>
    <p:extLst>
      <p:ext uri="{BB962C8B-B14F-4D97-AF65-F5344CB8AC3E}">
        <p14:creationId xmlns:p14="http://schemas.microsoft.com/office/powerpoint/2010/main" val="1824253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23</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1191490" y="1884218"/>
            <a:ext cx="9964189" cy="3200876"/>
          </a:xfrm>
          <a:prstGeom prst="rect">
            <a:avLst/>
          </a:prstGeom>
          <a:noFill/>
        </p:spPr>
        <p:txBody>
          <a:bodyPr wrap="square" rtlCol="0">
            <a:spAutoFit/>
          </a:bodyPr>
          <a:lstStyle/>
          <a:p>
            <a:r>
              <a:rPr lang="en-US" dirty="0"/>
              <a:t>Projected the embeddings into a 2D vector space trying to incorporate each of these categories. Included happiness dimension and a confusion dimension.</a:t>
            </a:r>
          </a:p>
          <a:p>
            <a:endParaRPr lang="en-US" dirty="0"/>
          </a:p>
          <a:p>
            <a:r>
              <a:rPr lang="en-US" dirty="0"/>
              <a:t> The vectors uses to define the axes are:</a:t>
            </a:r>
          </a:p>
          <a:p>
            <a:endParaRPr lang="en-US" dirty="0"/>
          </a:p>
          <a:p>
            <a:r>
              <a:rPr lang="en-US" sz="1400" b="0" dirty="0" err="1">
                <a:effectLst/>
                <a:latin typeface="Menlo" panose="020B0609030804020204" pitchFamily="49" charset="0"/>
              </a:rPr>
              <a:t>rent_sentences</a:t>
            </a:r>
            <a:r>
              <a:rPr lang="en-US" sz="1400" b="0" dirty="0">
                <a:effectLst/>
                <a:latin typeface="Menlo" panose="020B0609030804020204" pitchFamily="49" charset="0"/>
              </a:rPr>
              <a:t> = ["The rent price increase is too high", "The rent price is very reasonable"]</a:t>
            </a:r>
          </a:p>
          <a:p>
            <a:r>
              <a:rPr lang="en-US" sz="1400" b="0" dirty="0" err="1">
                <a:effectLst/>
                <a:latin typeface="Menlo" panose="020B0609030804020204" pitchFamily="49" charset="0"/>
              </a:rPr>
              <a:t>maintenance_sentences</a:t>
            </a:r>
            <a:r>
              <a:rPr lang="en-US" sz="1400" b="0" dirty="0">
                <a:effectLst/>
                <a:latin typeface="Menlo" panose="020B0609030804020204" pitchFamily="49" charset="0"/>
              </a:rPr>
              <a:t> = ["The maintenance issues are too much and repair requests are too slow", "This place is well maintained with no issues"]</a:t>
            </a:r>
          </a:p>
          <a:p>
            <a:r>
              <a:rPr lang="en-US" sz="1400" b="0" dirty="0" err="1">
                <a:effectLst/>
                <a:latin typeface="Menlo" panose="020B0609030804020204" pitchFamily="49" charset="0"/>
              </a:rPr>
              <a:t>personal_sentences</a:t>
            </a:r>
            <a:r>
              <a:rPr lang="en-US" sz="1400" b="0" dirty="0">
                <a:effectLst/>
                <a:latin typeface="Menlo" panose="020B0609030804020204" pitchFamily="49" charset="0"/>
              </a:rPr>
              <a:t> = ["My circumstances have changed and I have to move for a new job", "My life is stable and happy"]</a:t>
            </a:r>
          </a:p>
          <a:p>
            <a:r>
              <a:rPr lang="en-US" sz="1400" b="0" dirty="0" err="1">
                <a:effectLst/>
                <a:latin typeface="Menlo" panose="020B0609030804020204" pitchFamily="49" charset="0"/>
              </a:rPr>
              <a:t>happy_sentences</a:t>
            </a:r>
            <a:r>
              <a:rPr lang="en-US" sz="1400" b="0" dirty="0">
                <a:effectLst/>
                <a:latin typeface="Menlo" panose="020B0609030804020204" pitchFamily="49" charset="0"/>
              </a:rPr>
              <a:t> = ["I enjoy living here", "I hate this place"]</a:t>
            </a:r>
          </a:p>
          <a:p>
            <a:r>
              <a:rPr lang="en-US" sz="1400" b="0" dirty="0" err="1">
                <a:effectLst/>
                <a:latin typeface="Menlo" panose="020B0609030804020204" pitchFamily="49" charset="0"/>
              </a:rPr>
              <a:t>question_sentences</a:t>
            </a:r>
            <a:r>
              <a:rPr lang="en-US" sz="1400" b="0" dirty="0">
                <a:effectLst/>
                <a:latin typeface="Menlo" panose="020B0609030804020204" pitchFamily="49" charset="0"/>
              </a:rPr>
              <a:t> = ["What are the details?", "I know what I want."]</a:t>
            </a:r>
          </a:p>
        </p:txBody>
      </p:sp>
    </p:spTree>
    <p:extLst>
      <p:ext uri="{BB962C8B-B14F-4D97-AF65-F5344CB8AC3E}">
        <p14:creationId xmlns:p14="http://schemas.microsoft.com/office/powerpoint/2010/main" val="2806813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24</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1191490" y="1884218"/>
            <a:ext cx="9964189" cy="369332"/>
          </a:xfrm>
          <a:prstGeom prst="rect">
            <a:avLst/>
          </a:prstGeom>
          <a:noFill/>
        </p:spPr>
        <p:txBody>
          <a:bodyPr wrap="square" rtlCol="0">
            <a:spAutoFit/>
          </a:bodyPr>
          <a:lstStyle/>
          <a:p>
            <a:r>
              <a:rPr lang="en-US" dirty="0"/>
              <a:t>STRONG correlation between these dimensions, seeming to indicate some redundancy.</a:t>
            </a:r>
            <a:endParaRPr lang="en-US" sz="1400" b="0" dirty="0">
              <a:solidFill>
                <a:srgbClr val="BBBEBF"/>
              </a:solidFill>
              <a:effectLst/>
              <a:latin typeface="Menlo" panose="020B0609030804020204" pitchFamily="49" charset="0"/>
            </a:endParaRPr>
          </a:p>
        </p:txBody>
      </p:sp>
      <p:pic>
        <p:nvPicPr>
          <p:cNvPr id="8" name="Picture 7">
            <a:extLst>
              <a:ext uri="{FF2B5EF4-FFF2-40B4-BE49-F238E27FC236}">
                <a16:creationId xmlns:a16="http://schemas.microsoft.com/office/drawing/2014/main" id="{31C2CDCB-806B-83F6-6E69-1CD3B19C5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6951" y="2555251"/>
            <a:ext cx="3427268" cy="2570451"/>
          </a:xfrm>
          <a:prstGeom prst="rect">
            <a:avLst/>
          </a:prstGeom>
        </p:spPr>
      </p:pic>
      <p:pic>
        <p:nvPicPr>
          <p:cNvPr id="14" name="Picture 13">
            <a:extLst>
              <a:ext uri="{FF2B5EF4-FFF2-40B4-BE49-F238E27FC236}">
                <a16:creationId xmlns:a16="http://schemas.microsoft.com/office/drawing/2014/main" id="{9CAFCC6F-3C29-132A-4A47-DC161E70C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560" y="2555251"/>
            <a:ext cx="3427268" cy="2570451"/>
          </a:xfrm>
          <a:prstGeom prst="rect">
            <a:avLst/>
          </a:prstGeom>
        </p:spPr>
      </p:pic>
      <p:pic>
        <p:nvPicPr>
          <p:cNvPr id="16" name="Picture 15">
            <a:extLst>
              <a:ext uri="{FF2B5EF4-FFF2-40B4-BE49-F238E27FC236}">
                <a16:creationId xmlns:a16="http://schemas.microsoft.com/office/drawing/2014/main" id="{60D1368D-0271-4796-0326-AE8A9B3537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9683" y="2555252"/>
            <a:ext cx="3427268" cy="2570451"/>
          </a:xfrm>
          <a:prstGeom prst="rect">
            <a:avLst/>
          </a:prstGeom>
        </p:spPr>
      </p:pic>
    </p:spTree>
    <p:extLst>
      <p:ext uri="{BB962C8B-B14F-4D97-AF65-F5344CB8AC3E}">
        <p14:creationId xmlns:p14="http://schemas.microsoft.com/office/powerpoint/2010/main" val="1720184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25</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1191490" y="1884218"/>
            <a:ext cx="9964189" cy="369332"/>
          </a:xfrm>
          <a:prstGeom prst="rect">
            <a:avLst/>
          </a:prstGeom>
          <a:noFill/>
        </p:spPr>
        <p:txBody>
          <a:bodyPr wrap="square" rtlCol="0">
            <a:spAutoFit/>
          </a:bodyPr>
          <a:lstStyle/>
          <a:p>
            <a:r>
              <a:rPr lang="en-US" dirty="0"/>
              <a:t>Also looked at how confused and how happy people tend to be in these messages.</a:t>
            </a:r>
            <a:endParaRPr lang="en-US" sz="1400" b="0" dirty="0">
              <a:solidFill>
                <a:srgbClr val="BBBEBF"/>
              </a:solidFill>
              <a:effectLst/>
              <a:latin typeface="Menlo" panose="020B0609030804020204" pitchFamily="49" charset="0"/>
            </a:endParaRPr>
          </a:p>
        </p:txBody>
      </p:sp>
      <p:pic>
        <p:nvPicPr>
          <p:cNvPr id="6" name="Picture 5">
            <a:extLst>
              <a:ext uri="{FF2B5EF4-FFF2-40B4-BE49-F238E27FC236}">
                <a16:creationId xmlns:a16="http://schemas.microsoft.com/office/drawing/2014/main" id="{B2131D50-E113-8A77-02F4-F6921A7B9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192" y="4231930"/>
            <a:ext cx="2369896" cy="1777422"/>
          </a:xfrm>
          <a:prstGeom prst="rect">
            <a:avLst/>
          </a:prstGeom>
        </p:spPr>
      </p:pic>
      <p:pic>
        <p:nvPicPr>
          <p:cNvPr id="10" name="Picture 9">
            <a:extLst>
              <a:ext uri="{FF2B5EF4-FFF2-40B4-BE49-F238E27FC236}">
                <a16:creationId xmlns:a16="http://schemas.microsoft.com/office/drawing/2014/main" id="{3D72D5AD-186B-51E5-EB8A-F9F36A6196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231930"/>
            <a:ext cx="2369896" cy="1777422"/>
          </a:xfrm>
          <a:prstGeom prst="rect">
            <a:avLst/>
          </a:prstGeom>
        </p:spPr>
      </p:pic>
      <p:pic>
        <p:nvPicPr>
          <p:cNvPr id="12" name="Picture 11">
            <a:extLst>
              <a:ext uri="{FF2B5EF4-FFF2-40B4-BE49-F238E27FC236}">
                <a16:creationId xmlns:a16="http://schemas.microsoft.com/office/drawing/2014/main" id="{DF84225C-F0AC-09D0-D2B1-2AE16D553B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9192" y="2454508"/>
            <a:ext cx="2369896" cy="1777422"/>
          </a:xfrm>
          <a:prstGeom prst="rect">
            <a:avLst/>
          </a:prstGeom>
        </p:spPr>
      </p:pic>
      <p:pic>
        <p:nvPicPr>
          <p:cNvPr id="18" name="Picture 17">
            <a:extLst>
              <a:ext uri="{FF2B5EF4-FFF2-40B4-BE49-F238E27FC236}">
                <a16:creationId xmlns:a16="http://schemas.microsoft.com/office/drawing/2014/main" id="{2EC69B84-0EB1-D669-06DA-DB33B28D06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2454508"/>
            <a:ext cx="2369896" cy="1777422"/>
          </a:xfrm>
          <a:prstGeom prst="rect">
            <a:avLst/>
          </a:prstGeom>
        </p:spPr>
      </p:pic>
      <p:sp>
        <p:nvSpPr>
          <p:cNvPr id="3" name="TextBox 2">
            <a:extLst>
              <a:ext uri="{FF2B5EF4-FFF2-40B4-BE49-F238E27FC236}">
                <a16:creationId xmlns:a16="http://schemas.microsoft.com/office/drawing/2014/main" id="{F8570A4E-DD89-8B4C-5AF0-FE526D65587D}"/>
              </a:ext>
            </a:extLst>
          </p:cNvPr>
          <p:cNvSpPr txBox="1"/>
          <p:nvPr/>
        </p:nvSpPr>
        <p:spPr>
          <a:xfrm>
            <a:off x="1043349" y="3343219"/>
            <a:ext cx="2369896" cy="1200329"/>
          </a:xfrm>
          <a:prstGeom prst="rect">
            <a:avLst/>
          </a:prstGeom>
          <a:noFill/>
        </p:spPr>
        <p:txBody>
          <a:bodyPr wrap="square" rtlCol="0">
            <a:spAutoFit/>
          </a:bodyPr>
          <a:lstStyle/>
          <a:p>
            <a:r>
              <a:rPr lang="en-US" dirty="0"/>
              <a:t>More maintenance and rent price problems means less happy, as expected</a:t>
            </a:r>
          </a:p>
        </p:txBody>
      </p:sp>
      <p:sp>
        <p:nvSpPr>
          <p:cNvPr id="7" name="TextBox 6">
            <a:extLst>
              <a:ext uri="{FF2B5EF4-FFF2-40B4-BE49-F238E27FC236}">
                <a16:creationId xmlns:a16="http://schemas.microsoft.com/office/drawing/2014/main" id="{A7C7750B-D2AE-8007-75A0-69DD8C696EF3}"/>
              </a:ext>
            </a:extLst>
          </p:cNvPr>
          <p:cNvSpPr txBox="1"/>
          <p:nvPr/>
        </p:nvSpPr>
        <p:spPr>
          <a:xfrm>
            <a:off x="8501520" y="2635250"/>
            <a:ext cx="3036055" cy="1477328"/>
          </a:xfrm>
          <a:prstGeom prst="rect">
            <a:avLst/>
          </a:prstGeom>
          <a:noFill/>
        </p:spPr>
        <p:txBody>
          <a:bodyPr wrap="square" rtlCol="0">
            <a:spAutoFit/>
          </a:bodyPr>
          <a:lstStyle/>
          <a:p>
            <a:r>
              <a:rPr lang="en-US" dirty="0"/>
              <a:t>People less concerned about rent prices are more confused, probably because they don’t know the rent price yet.</a:t>
            </a:r>
          </a:p>
        </p:txBody>
      </p:sp>
      <p:sp>
        <p:nvSpPr>
          <p:cNvPr id="9" name="TextBox 8">
            <a:extLst>
              <a:ext uri="{FF2B5EF4-FFF2-40B4-BE49-F238E27FC236}">
                <a16:creationId xmlns:a16="http://schemas.microsoft.com/office/drawing/2014/main" id="{C58484F0-B89E-A1D3-938B-94DE20D868D9}"/>
              </a:ext>
            </a:extLst>
          </p:cNvPr>
          <p:cNvSpPr txBox="1"/>
          <p:nvPr/>
        </p:nvSpPr>
        <p:spPr>
          <a:xfrm>
            <a:off x="8501520" y="4658976"/>
            <a:ext cx="3036055" cy="923330"/>
          </a:xfrm>
          <a:prstGeom prst="rect">
            <a:avLst/>
          </a:prstGeom>
          <a:noFill/>
        </p:spPr>
        <p:txBody>
          <a:bodyPr wrap="square" rtlCol="0">
            <a:spAutoFit/>
          </a:bodyPr>
          <a:lstStyle/>
          <a:p>
            <a:r>
              <a:rPr lang="en-US" dirty="0"/>
              <a:t>Confusion doesn’t correlate to maintenance issues.</a:t>
            </a:r>
          </a:p>
        </p:txBody>
      </p:sp>
    </p:spTree>
    <p:extLst>
      <p:ext uri="{BB962C8B-B14F-4D97-AF65-F5344CB8AC3E}">
        <p14:creationId xmlns:p14="http://schemas.microsoft.com/office/powerpoint/2010/main" val="1258662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26</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1191490" y="1884218"/>
            <a:ext cx="9964189" cy="1938992"/>
          </a:xfrm>
          <a:prstGeom prst="rect">
            <a:avLst/>
          </a:prstGeom>
          <a:noFill/>
        </p:spPr>
        <p:txBody>
          <a:bodyPr wrap="square" rtlCol="0">
            <a:spAutoFit/>
          </a:bodyPr>
          <a:lstStyle/>
          <a:p>
            <a:r>
              <a:rPr lang="en-US" dirty="0"/>
              <a:t>Category embeddings defined by the following:</a:t>
            </a:r>
          </a:p>
          <a:p>
            <a:endParaRPr lang="en-US" dirty="0"/>
          </a:p>
          <a:p>
            <a:r>
              <a:rPr lang="en-US" sz="1400" b="0" dirty="0" err="1">
                <a:effectLst/>
                <a:latin typeface="Menlo" panose="020B0609030804020204" pitchFamily="49" charset="0"/>
              </a:rPr>
              <a:t>category_definitions_and_examples</a:t>
            </a:r>
            <a:r>
              <a:rPr lang="en-US" sz="1400" b="0" dirty="0">
                <a:effectLst/>
                <a:latin typeface="Menlo" panose="020B0609030804020204" pitchFamily="49" charset="0"/>
              </a:rPr>
              <a:t> = {</a:t>
            </a:r>
          </a:p>
          <a:p>
            <a:r>
              <a:rPr lang="en-US" sz="1400" b="0" dirty="0">
                <a:effectLst/>
                <a:latin typeface="Menlo" panose="020B0609030804020204" pitchFamily="49" charset="0"/>
              </a:rPr>
              <a:t>"Rent" : "The rent price is too high.",</a:t>
            </a:r>
          </a:p>
          <a:p>
            <a:r>
              <a:rPr lang="en-US" sz="1400" b="0" dirty="0">
                <a:effectLst/>
                <a:latin typeface="Menlo" panose="020B0609030804020204" pitchFamily="49" charset="0"/>
              </a:rPr>
              <a:t>"Maintenance" : "There are too many maintenance issues and repairs are slow.",</a:t>
            </a:r>
          </a:p>
          <a:p>
            <a:r>
              <a:rPr lang="en-US" sz="1400" b="0" dirty="0">
                <a:effectLst/>
                <a:latin typeface="Menlo" panose="020B0609030804020204" pitchFamily="49" charset="0"/>
              </a:rPr>
              <a:t>"Life" : "My circumstances and job have changed and I need to move.",</a:t>
            </a:r>
          </a:p>
          <a:p>
            <a:r>
              <a:rPr lang="en-US" sz="1400" b="0" dirty="0">
                <a:effectLst/>
                <a:latin typeface="Menlo" panose="020B0609030804020204" pitchFamily="49" charset="0"/>
              </a:rPr>
              <a:t>"Question" : "I'm not sure. What are the details?"</a:t>
            </a:r>
          </a:p>
          <a:p>
            <a:r>
              <a:rPr lang="en-US" sz="1400" b="0" dirty="0">
                <a:effectLst/>
                <a:latin typeface="Menlo" panose="020B0609030804020204" pitchFamily="49" charset="0"/>
              </a:rPr>
              <a:t>}</a:t>
            </a:r>
          </a:p>
        </p:txBody>
      </p:sp>
      <p:sp>
        <p:nvSpPr>
          <p:cNvPr id="8" name="TextBox 7">
            <a:extLst>
              <a:ext uri="{FF2B5EF4-FFF2-40B4-BE49-F238E27FC236}">
                <a16:creationId xmlns:a16="http://schemas.microsoft.com/office/drawing/2014/main" id="{8CBEBA9F-1DC7-2067-E6EA-CD1718474B17}"/>
              </a:ext>
            </a:extLst>
          </p:cNvPr>
          <p:cNvSpPr txBox="1"/>
          <p:nvPr/>
        </p:nvSpPr>
        <p:spPr>
          <a:xfrm>
            <a:off x="2255980" y="4034816"/>
            <a:ext cx="3380510" cy="1477328"/>
          </a:xfrm>
          <a:prstGeom prst="rect">
            <a:avLst/>
          </a:prstGeom>
          <a:noFill/>
        </p:spPr>
        <p:txBody>
          <a:bodyPr wrap="square" rtlCol="0">
            <a:spAutoFit/>
          </a:bodyPr>
          <a:lstStyle/>
          <a:p>
            <a:r>
              <a:rPr lang="en-US" dirty="0"/>
              <a:t>Projecting all the embeddings onto these categories yields this. All messages basically have a lot of each category in them, which is not great.</a:t>
            </a:r>
            <a:endParaRPr lang="en-US" sz="1400" b="0" dirty="0">
              <a:solidFill>
                <a:srgbClr val="BBBEBF"/>
              </a:solidFill>
              <a:effectLst/>
              <a:latin typeface="Menlo" panose="020B0609030804020204" pitchFamily="49" charset="0"/>
            </a:endParaRPr>
          </a:p>
        </p:txBody>
      </p:sp>
      <p:pic>
        <p:nvPicPr>
          <p:cNvPr id="13" name="Picture 12">
            <a:extLst>
              <a:ext uri="{FF2B5EF4-FFF2-40B4-BE49-F238E27FC236}">
                <a16:creationId xmlns:a16="http://schemas.microsoft.com/office/drawing/2014/main" id="{16E6E206-305B-7918-A13F-C9535E025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6490" y="3586018"/>
            <a:ext cx="3429000" cy="2571750"/>
          </a:xfrm>
          <a:prstGeom prst="rect">
            <a:avLst/>
          </a:prstGeom>
        </p:spPr>
      </p:pic>
    </p:spTree>
    <p:extLst>
      <p:ext uri="{BB962C8B-B14F-4D97-AF65-F5344CB8AC3E}">
        <p14:creationId xmlns:p14="http://schemas.microsoft.com/office/powerpoint/2010/main" val="1806511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27</a:t>
            </a:fld>
            <a:endParaRPr lang="en-US"/>
          </a:p>
        </p:txBody>
      </p:sp>
      <p:sp>
        <p:nvSpPr>
          <p:cNvPr id="5" name="TextBox 4">
            <a:extLst>
              <a:ext uri="{FF2B5EF4-FFF2-40B4-BE49-F238E27FC236}">
                <a16:creationId xmlns:a16="http://schemas.microsoft.com/office/drawing/2014/main" id="{CB78CDD9-F949-F6FA-9175-5E18E28C487D}"/>
              </a:ext>
            </a:extLst>
          </p:cNvPr>
          <p:cNvSpPr txBox="1"/>
          <p:nvPr/>
        </p:nvSpPr>
        <p:spPr>
          <a:xfrm>
            <a:off x="1191490" y="1884218"/>
            <a:ext cx="9964189" cy="646331"/>
          </a:xfrm>
          <a:prstGeom prst="rect">
            <a:avLst/>
          </a:prstGeom>
          <a:noFill/>
        </p:spPr>
        <p:txBody>
          <a:bodyPr wrap="square" rtlCol="0">
            <a:spAutoFit/>
          </a:bodyPr>
          <a:lstStyle/>
          <a:p>
            <a:r>
              <a:rPr lang="en-US" dirty="0"/>
              <a:t>Calculated the cosine similarity between each sentence and the category embedding. Categorized each comment according to highest cosine similarity</a:t>
            </a:r>
            <a:endParaRPr lang="en-US" sz="1400" b="0" dirty="0">
              <a:solidFill>
                <a:srgbClr val="BBBEBF"/>
              </a:solidFill>
              <a:effectLst/>
              <a:latin typeface="Menlo" panose="020B0609030804020204" pitchFamily="49" charset="0"/>
            </a:endParaRPr>
          </a:p>
        </p:txBody>
      </p:sp>
      <p:sp>
        <p:nvSpPr>
          <p:cNvPr id="6" name="TextBox 5">
            <a:extLst>
              <a:ext uri="{FF2B5EF4-FFF2-40B4-BE49-F238E27FC236}">
                <a16:creationId xmlns:a16="http://schemas.microsoft.com/office/drawing/2014/main" id="{5CFA5144-C863-AAB2-F027-2C74D3B2D45E}"/>
              </a:ext>
            </a:extLst>
          </p:cNvPr>
          <p:cNvSpPr txBox="1"/>
          <p:nvPr/>
        </p:nvSpPr>
        <p:spPr>
          <a:xfrm>
            <a:off x="3911600" y="2824815"/>
            <a:ext cx="4368800" cy="1754326"/>
          </a:xfrm>
          <a:prstGeom prst="rect">
            <a:avLst/>
          </a:prstGeom>
          <a:noFill/>
        </p:spPr>
        <p:txBody>
          <a:bodyPr wrap="square">
            <a:spAutoFit/>
          </a:bodyPr>
          <a:lstStyle/>
          <a:p>
            <a:r>
              <a:rPr lang="en-US" b="0" i="0" dirty="0">
                <a:effectLst/>
                <a:latin typeface="Menlo" panose="020B0609030804020204" pitchFamily="49" charset="0"/>
              </a:rPr>
              <a:t>--- TOTAL CATEGORY COUNT --- </a:t>
            </a:r>
          </a:p>
          <a:p>
            <a:r>
              <a:rPr lang="en-US" b="0" i="0" dirty="0">
                <a:effectLst/>
                <a:latin typeface="Menlo" panose="020B0609030804020204" pitchFamily="49" charset="0"/>
              </a:rPr>
              <a:t>reason </a:t>
            </a:r>
          </a:p>
          <a:p>
            <a:r>
              <a:rPr lang="en-US" b="0" i="0" dirty="0">
                <a:effectLst/>
                <a:latin typeface="Menlo" panose="020B0609030804020204" pitchFamily="49" charset="0"/>
              </a:rPr>
              <a:t>Rent 363 </a:t>
            </a:r>
          </a:p>
          <a:p>
            <a:r>
              <a:rPr lang="en-US" b="0" i="0" dirty="0">
                <a:effectLst/>
                <a:latin typeface="Menlo" panose="020B0609030804020204" pitchFamily="49" charset="0"/>
              </a:rPr>
              <a:t>Life 6 </a:t>
            </a:r>
          </a:p>
          <a:p>
            <a:r>
              <a:rPr lang="en-US" b="0" i="0" dirty="0">
                <a:effectLst/>
                <a:latin typeface="Menlo" panose="020B0609030804020204" pitchFamily="49" charset="0"/>
              </a:rPr>
              <a:t>Question 5 </a:t>
            </a:r>
          </a:p>
          <a:p>
            <a:r>
              <a:rPr lang="en-US" b="0" i="0" dirty="0">
                <a:effectLst/>
                <a:latin typeface="Menlo" panose="020B0609030804020204" pitchFamily="49" charset="0"/>
              </a:rPr>
              <a:t>Maintenance 2 </a:t>
            </a:r>
          </a:p>
        </p:txBody>
      </p:sp>
      <p:sp>
        <p:nvSpPr>
          <p:cNvPr id="7" name="TextBox 6">
            <a:extLst>
              <a:ext uri="{FF2B5EF4-FFF2-40B4-BE49-F238E27FC236}">
                <a16:creationId xmlns:a16="http://schemas.microsoft.com/office/drawing/2014/main" id="{04E50169-9C89-D322-3B56-39889A7ACE26}"/>
              </a:ext>
            </a:extLst>
          </p:cNvPr>
          <p:cNvSpPr txBox="1"/>
          <p:nvPr/>
        </p:nvSpPr>
        <p:spPr>
          <a:xfrm>
            <a:off x="1191490" y="4873407"/>
            <a:ext cx="9964189" cy="646331"/>
          </a:xfrm>
          <a:prstGeom prst="rect">
            <a:avLst/>
          </a:prstGeom>
          <a:noFill/>
        </p:spPr>
        <p:txBody>
          <a:bodyPr wrap="square" rtlCol="0">
            <a:spAutoFit/>
          </a:bodyPr>
          <a:lstStyle/>
          <a:p>
            <a:r>
              <a:rPr lang="en-US" dirty="0"/>
              <a:t>Rent is in everything as expected. Questions seem about right. Maintenance is way too low and that’s probably because rent is always mentioned with maintenance.</a:t>
            </a:r>
            <a:endParaRPr lang="en-US" sz="1400" b="0" dirty="0">
              <a:solidFill>
                <a:srgbClr val="BBBEBF"/>
              </a:solidFill>
              <a:effectLst/>
              <a:latin typeface="Menlo" panose="020B0609030804020204" pitchFamily="49" charset="0"/>
            </a:endParaRPr>
          </a:p>
        </p:txBody>
      </p:sp>
    </p:spTree>
    <p:extLst>
      <p:ext uri="{BB962C8B-B14F-4D97-AF65-F5344CB8AC3E}">
        <p14:creationId xmlns:p14="http://schemas.microsoft.com/office/powerpoint/2010/main" val="3571833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2004-1C2B-C96A-040D-7774D80945A4}"/>
              </a:ext>
            </a:extLst>
          </p:cNvPr>
          <p:cNvSpPr>
            <a:spLocks noGrp="1"/>
          </p:cNvSpPr>
          <p:nvPr>
            <p:ph type="title"/>
          </p:nvPr>
        </p:nvSpPr>
        <p:spPr/>
        <p:txBody>
          <a:bodyPr/>
          <a:lstStyle/>
          <a:p>
            <a:r>
              <a:rPr lang="en-US" dirty="0"/>
              <a:t>3 – Categorize Messages</a:t>
            </a:r>
          </a:p>
        </p:txBody>
      </p:sp>
      <p:sp>
        <p:nvSpPr>
          <p:cNvPr id="4" name="Slide Number Placeholder 3">
            <a:extLst>
              <a:ext uri="{FF2B5EF4-FFF2-40B4-BE49-F238E27FC236}">
                <a16:creationId xmlns:a16="http://schemas.microsoft.com/office/drawing/2014/main" id="{39690CD9-0C4E-778E-9C76-8EEAECCA18E2}"/>
              </a:ext>
            </a:extLst>
          </p:cNvPr>
          <p:cNvSpPr>
            <a:spLocks noGrp="1"/>
          </p:cNvSpPr>
          <p:nvPr>
            <p:ph type="sldNum" sz="quarter" idx="12"/>
          </p:nvPr>
        </p:nvSpPr>
        <p:spPr/>
        <p:txBody>
          <a:bodyPr/>
          <a:lstStyle/>
          <a:p>
            <a:fld id="{DCC1F92A-C6D8-4423-A6E5-606ADED483CD}" type="slidenum">
              <a:rPr lang="en-US" smtClean="0"/>
              <a:t>28</a:t>
            </a:fld>
            <a:endParaRPr lang="en-US"/>
          </a:p>
        </p:txBody>
      </p:sp>
      <p:sp>
        <p:nvSpPr>
          <p:cNvPr id="3" name="TextBox 2">
            <a:extLst>
              <a:ext uri="{FF2B5EF4-FFF2-40B4-BE49-F238E27FC236}">
                <a16:creationId xmlns:a16="http://schemas.microsoft.com/office/drawing/2014/main" id="{2462C9C7-A942-5751-4460-F0C3BEF4C7FC}"/>
              </a:ext>
            </a:extLst>
          </p:cNvPr>
          <p:cNvSpPr txBox="1"/>
          <p:nvPr/>
        </p:nvSpPr>
        <p:spPr>
          <a:xfrm>
            <a:off x="5081161" y="1893456"/>
            <a:ext cx="2090637" cy="369332"/>
          </a:xfrm>
          <a:prstGeom prst="rect">
            <a:avLst/>
          </a:prstGeom>
          <a:noFill/>
        </p:spPr>
        <p:txBody>
          <a:bodyPr wrap="none" rtlCol="0">
            <a:spAutoFit/>
          </a:bodyPr>
          <a:lstStyle/>
          <a:p>
            <a:r>
              <a:rPr lang="en-US" dirty="0"/>
              <a:t>Future Directions</a:t>
            </a:r>
          </a:p>
        </p:txBody>
      </p:sp>
      <p:sp>
        <p:nvSpPr>
          <p:cNvPr id="8" name="TextBox 7">
            <a:extLst>
              <a:ext uri="{FF2B5EF4-FFF2-40B4-BE49-F238E27FC236}">
                <a16:creationId xmlns:a16="http://schemas.microsoft.com/office/drawing/2014/main" id="{972C2A72-F2FE-E200-C53F-6AE925A18BA5}"/>
              </a:ext>
            </a:extLst>
          </p:cNvPr>
          <p:cNvSpPr txBox="1"/>
          <p:nvPr/>
        </p:nvSpPr>
        <p:spPr>
          <a:xfrm>
            <a:off x="1357745" y="2641600"/>
            <a:ext cx="9282546" cy="2308324"/>
          </a:xfrm>
          <a:prstGeom prst="rect">
            <a:avLst/>
          </a:prstGeom>
          <a:noFill/>
        </p:spPr>
        <p:txBody>
          <a:bodyPr wrap="square" rtlCol="0">
            <a:spAutoFit/>
          </a:bodyPr>
          <a:lstStyle/>
          <a:p>
            <a:pPr marL="285750" indent="-285750">
              <a:buFont typeface="Arial" panose="020B0604020202020204" pitchFamily="34" charset="0"/>
              <a:buChar char="•"/>
            </a:pPr>
            <a:r>
              <a:rPr lang="en-US" dirty="0"/>
              <a:t>Given the prevalence of rent prices in the sentences, perhaps it’s best to project out rent price semantics before analyzing each sentence? This would allow for things like maintenance to come to the forefront.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Better parse the sentences. Having them all concatenated has too many stray words that could effect the encoding.</a:t>
            </a:r>
          </a:p>
          <a:p>
            <a:pPr marL="285750" indent="-285750">
              <a:buFont typeface="Arial" panose="020B0604020202020204" pitchFamily="34" charset="0"/>
              <a:buChar char="•"/>
            </a:pPr>
            <a:r>
              <a:rPr lang="en-US" dirty="0"/>
              <a:t>I suspect a PCA analysis would reduce these categories down.</a:t>
            </a:r>
          </a:p>
        </p:txBody>
      </p:sp>
      <p:pic>
        <p:nvPicPr>
          <p:cNvPr id="14" name="Picture 13">
            <a:extLst>
              <a:ext uri="{FF2B5EF4-FFF2-40B4-BE49-F238E27FC236}">
                <a16:creationId xmlns:a16="http://schemas.microsoft.com/office/drawing/2014/main" id="{9A3EF9F2-DD64-A56F-DB2E-75F4C12D8E8F}"/>
              </a:ext>
            </a:extLst>
          </p:cNvPr>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2176826" y="3657262"/>
            <a:ext cx="7644384" cy="288544"/>
          </a:xfrm>
          <a:prstGeom prst="rect">
            <a:avLst/>
          </a:prstGeom>
        </p:spPr>
      </p:pic>
    </p:spTree>
    <p:extLst>
      <p:ext uri="{BB962C8B-B14F-4D97-AF65-F5344CB8AC3E}">
        <p14:creationId xmlns:p14="http://schemas.microsoft.com/office/powerpoint/2010/main" val="14219006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42"/>
  <p:tag name="ORIGINALWIDTH" val="3762"/>
  <p:tag name="OUTPUTTYPE" val="PNG"/>
  <p:tag name="IGUANATEXVERSION" val="162"/>
  <p:tag name="LATEXADDIN" val="\documentclass{article}&#10;\usepackage{amsmath}&#10;\usepackage{physics}&#10;\pagestyle{empty}&#10;\begin{document}&#10;&#10;&#10;$$ \ket{\text{sentence}}^\prime = \ket{\text{sentence}} - \ket{\text{``rent too high''}} \bra{\text{``rent too high''}}\ket{\text{sentence}} $$&#10;&#10;\end{document}"/>
  <p:tag name="IGUANATEXSIZE" val="20"/>
  <p:tag name="IGUANATEXCURSOR" val="189"/>
  <p:tag name="TRANSPARENCY" val="True"/>
  <p:tag name="COLORHEX" val="000000"/>
  <p:tag name="LATEXENGINEID" val="0"/>
  <p:tag name="TEMPFOLDER" val="/Users/henry/Library/Containers/com.microsoft.Powerpoint/Data/tmp/TemporaryItems/"/>
  <p:tag name="LATEXFORMHEIGHT" val="426.65"/>
  <p:tag name="LATEXFORMWIDTH" val="513.35"/>
  <p:tag name="LATEXFORMWRAP" val="True"/>
  <p:tag name="BITMAPVECTOR" val="0"/>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Century Schoolbook">
      <a:majorFont>
        <a:latin typeface="Century Schoolbook"/>
        <a:ea typeface=""/>
        <a:cs typeface=""/>
      </a:majorFont>
      <a:minorFont>
        <a:latin typeface="Century Schoolbook"/>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5082</TotalTime>
  <Words>2494</Words>
  <Application>Microsoft Macintosh PowerPoint</Application>
  <PresentationFormat>Widescreen</PresentationFormat>
  <Paragraphs>349</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-apple-system</vt:lpstr>
      <vt:lpstr>Arial</vt:lpstr>
      <vt:lpstr>Calibri</vt:lpstr>
      <vt:lpstr>Century Schoolbook</vt:lpstr>
      <vt:lpstr>Menlo</vt:lpstr>
      <vt:lpstr>Retrospect</vt:lpstr>
      <vt:lpstr>Classification Model for Housing Renewal Decisions</vt:lpstr>
      <vt:lpstr>Goals for Project</vt:lpstr>
      <vt:lpstr>1 – Data Processing</vt:lpstr>
      <vt:lpstr>1 – Data Processing</vt:lpstr>
      <vt:lpstr>1 – Data Processing</vt:lpstr>
      <vt:lpstr>1 – Data Processing</vt:lpstr>
      <vt:lpstr>1 – Data Processing</vt:lpstr>
      <vt:lpstr>1 – Data Processing</vt:lpstr>
      <vt:lpstr>1 – Data Processing</vt:lpstr>
      <vt:lpstr>1 – Data Processing</vt:lpstr>
      <vt:lpstr>1 – Data Processing</vt:lpstr>
      <vt:lpstr>1 – Data Processing</vt:lpstr>
      <vt:lpstr>2 – Model Development</vt:lpstr>
      <vt:lpstr>2 – Model Development</vt:lpstr>
      <vt:lpstr>2 – Model Development</vt:lpstr>
      <vt:lpstr>2 – Model Development</vt:lpstr>
      <vt:lpstr>2 – Model Development</vt:lpstr>
      <vt:lpstr>2 – Model Development</vt:lpstr>
      <vt:lpstr>2 – Model Development</vt:lpstr>
      <vt:lpstr>3 – Categorize Messages</vt:lpstr>
      <vt:lpstr>3 – Categorize Messages</vt:lpstr>
      <vt:lpstr>3 – Categorize Messages</vt:lpstr>
      <vt:lpstr>3 – Categorize Messages</vt:lpstr>
      <vt:lpstr>3 – Categorize Messages</vt:lpstr>
      <vt:lpstr>3 – Categorize Messages</vt:lpstr>
      <vt:lpstr>3 – Categorize Messages</vt:lpstr>
      <vt:lpstr>3 – Categorize Messages</vt:lpstr>
      <vt:lpstr>3 – Categorize Messages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Representing Potential Energy Surfaces as Tensor Decompositions</dc:title>
  <dc:creator>Henry Tran</dc:creator>
  <cp:lastModifiedBy>Microsoft Office User</cp:lastModifiedBy>
  <cp:revision>251</cp:revision>
  <dcterms:created xsi:type="dcterms:W3CDTF">2025-06-07T21:15:52Z</dcterms:created>
  <dcterms:modified xsi:type="dcterms:W3CDTF">2026-04-06T03:15:33Z</dcterms:modified>
</cp:coreProperties>
</file>